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</p:sldMasterIdLst>
  <p:sldIdLst>
    <p:sldId id="256" r:id="rId5"/>
    <p:sldId id="257" r:id="rId6"/>
    <p:sldId id="258" r:id="rId7"/>
    <p:sldId id="260" r:id="rId8"/>
    <p:sldId id="259" r:id="rId9"/>
    <p:sldId id="261" r:id="rId10"/>
    <p:sldId id="262" r:id="rId11"/>
    <p:sldId id="264" r:id="rId12"/>
    <p:sldId id="263" r:id="rId13"/>
    <p:sldId id="266" r:id="rId14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6699"/>
    <a:srgbClr val="E6E6E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66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educrd-my.sharepoint.com/personal/richard_martineza_docente_edu_do/Documents/Ret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nerd.DESKTOP-KJM7GT4\Documents\Ret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nerd.DESKTOP-KJM7GT4\Documents\Reto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nerd.DESKTOP-KJM7GT4\Documents\Reto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nerd.DESKTOP-KJM7GT4\Documents\Reto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nerd.DESKTOP-KJM7GT4\Documents\Reto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nerd.DESKTOP-KJM7GT4\Documents\Reto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s-DO" sz="1800" b="1" i="0" u="none" strike="noStrike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“Tendencia diaria del Tiempo de Espera </a:t>
            </a:r>
            <a:endParaRPr lang="es-DO"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c:rich>
      </c:tx>
      <c:layout>
        <c:manualLayout>
          <c:xMode val="edge"/>
          <c:yMode val="edge"/>
          <c:x val="0.1917368573286445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'Centro Contacto'!$A$40</c:f>
              <c:strCache>
                <c:ptCount val="1"/>
                <c:pt idx="0">
                  <c:v>Dia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'Centro Contacto'!$A$41:$A$71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01-4A7B-9477-F57AEF9AC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4069568"/>
        <c:axId val="1504071008"/>
      </c:lineChart>
      <c:lineChart>
        <c:grouping val="standard"/>
        <c:varyColors val="0"/>
        <c:ser>
          <c:idx val="1"/>
          <c:order val="1"/>
          <c:tx>
            <c:strRef>
              <c:f>'Centro Contacto'!$B$40</c:f>
              <c:strCache>
                <c:ptCount val="1"/>
                <c:pt idx="0">
                  <c:v>Tiempo_Espera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val>
            <c:numRef>
              <c:f>'Centro Contacto'!$B$41:$B$71</c:f>
              <c:numCache>
                <c:formatCode>h:mm:ss</c:formatCode>
                <c:ptCount val="31"/>
                <c:pt idx="0">
                  <c:v>5.6018518518518518E-3</c:v>
                </c:pt>
                <c:pt idx="1">
                  <c:v>8.8310185185185176E-3</c:v>
                </c:pt>
                <c:pt idx="2">
                  <c:v>1.0023148148148147E-2</c:v>
                </c:pt>
                <c:pt idx="3">
                  <c:v>2.3726851851851851E-3</c:v>
                </c:pt>
                <c:pt idx="4">
                  <c:v>4.8958333333333328E-3</c:v>
                </c:pt>
                <c:pt idx="5">
                  <c:v>1.1006944444444444E-2</c:v>
                </c:pt>
                <c:pt idx="6">
                  <c:v>3.8310185185185183E-3</c:v>
                </c:pt>
                <c:pt idx="7">
                  <c:v>2.1064814814814813E-3</c:v>
                </c:pt>
                <c:pt idx="8">
                  <c:v>3.7847222222222223E-3</c:v>
                </c:pt>
                <c:pt idx="9">
                  <c:v>2.615740740740741E-3</c:v>
                </c:pt>
                <c:pt idx="10">
                  <c:v>4.3287037037037035E-3</c:v>
                </c:pt>
                <c:pt idx="11">
                  <c:v>2.3148148148148151E-3</c:v>
                </c:pt>
                <c:pt idx="12">
                  <c:v>5.5555555555555558E-3</c:v>
                </c:pt>
                <c:pt idx="13">
                  <c:v>2.4652777777777776E-3</c:v>
                </c:pt>
                <c:pt idx="14">
                  <c:v>1.9212962962962962E-3</c:v>
                </c:pt>
                <c:pt idx="15">
                  <c:v>2.2569444444444447E-3</c:v>
                </c:pt>
                <c:pt idx="16">
                  <c:v>2.7546296296296294E-3</c:v>
                </c:pt>
                <c:pt idx="17">
                  <c:v>1.8518518518518517E-3</c:v>
                </c:pt>
                <c:pt idx="18">
                  <c:v>5.3587962962962964E-3</c:v>
                </c:pt>
                <c:pt idx="19">
                  <c:v>3.2638888888888891E-3</c:v>
                </c:pt>
                <c:pt idx="20">
                  <c:v>3.3449074074074071E-3</c:v>
                </c:pt>
                <c:pt idx="21">
                  <c:v>2.1296296296296298E-3</c:v>
                </c:pt>
                <c:pt idx="22">
                  <c:v>2.0949074074074073E-3</c:v>
                </c:pt>
                <c:pt idx="23">
                  <c:v>2.5810185185185185E-3</c:v>
                </c:pt>
                <c:pt idx="24">
                  <c:v>1.2731481481481483E-3</c:v>
                </c:pt>
                <c:pt idx="25">
                  <c:v>4.6990740740740743E-3</c:v>
                </c:pt>
                <c:pt idx="26">
                  <c:v>4.0509259259259257E-3</c:v>
                </c:pt>
                <c:pt idx="27">
                  <c:v>2.4421296296296296E-3</c:v>
                </c:pt>
                <c:pt idx="28">
                  <c:v>2.6504629629629625E-3</c:v>
                </c:pt>
                <c:pt idx="29">
                  <c:v>4.8495370370370368E-3</c:v>
                </c:pt>
                <c:pt idx="30">
                  <c:v>4.9074074074074072E-3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01-4A7B-9477-F57AEF9AC82A}"/>
            </c:ext>
          </c:extLst>
        </c:ser>
        <c:ser>
          <c:idx val="2"/>
          <c:order val="2"/>
          <c:tx>
            <c:strRef>
              <c:f>'Centro Contacto'!$C$40</c:f>
              <c:strCache>
                <c:ptCount val="1"/>
                <c:pt idx="0">
                  <c:v>Tiempo_Sesion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val>
            <c:numRef>
              <c:f>'Centro Contacto'!$C$41:$C$71</c:f>
              <c:numCache>
                <c:formatCode>h:mm:ss</c:formatCode>
                <c:ptCount val="31"/>
                <c:pt idx="0">
                  <c:v>1.1886574074074075E-2</c:v>
                </c:pt>
                <c:pt idx="1">
                  <c:v>1.5578703703703704E-2</c:v>
                </c:pt>
                <c:pt idx="2">
                  <c:v>1.5879629629629629E-2</c:v>
                </c:pt>
                <c:pt idx="3">
                  <c:v>1.1608796296296296E-2</c:v>
                </c:pt>
                <c:pt idx="4">
                  <c:v>1.3055555555555556E-2</c:v>
                </c:pt>
                <c:pt idx="5">
                  <c:v>1.3726851851851851E-2</c:v>
                </c:pt>
                <c:pt idx="6">
                  <c:v>1.1979166666666666E-2</c:v>
                </c:pt>
                <c:pt idx="7">
                  <c:v>1.2546296296296297E-2</c:v>
                </c:pt>
                <c:pt idx="8">
                  <c:v>1.375E-2</c:v>
                </c:pt>
                <c:pt idx="9">
                  <c:v>1.4363425925925925E-2</c:v>
                </c:pt>
                <c:pt idx="10">
                  <c:v>1.4872685185185185E-2</c:v>
                </c:pt>
                <c:pt idx="11">
                  <c:v>1.2939814814814814E-2</c:v>
                </c:pt>
                <c:pt idx="12">
                  <c:v>1.5555555555555553E-2</c:v>
                </c:pt>
                <c:pt idx="13">
                  <c:v>1.2916666666666667E-2</c:v>
                </c:pt>
                <c:pt idx="14">
                  <c:v>1.2268518518518519E-2</c:v>
                </c:pt>
                <c:pt idx="15">
                  <c:v>1.3854166666666666E-2</c:v>
                </c:pt>
                <c:pt idx="16">
                  <c:v>2.6273148148148153E-2</c:v>
                </c:pt>
                <c:pt idx="17">
                  <c:v>4.2256944444444444E-2</c:v>
                </c:pt>
                <c:pt idx="18">
                  <c:v>1.6192129629629629E-2</c:v>
                </c:pt>
                <c:pt idx="19">
                  <c:v>1.3668981481481482E-2</c:v>
                </c:pt>
                <c:pt idx="20">
                  <c:v>1.3032407407407407E-2</c:v>
                </c:pt>
                <c:pt idx="21">
                  <c:v>1.3032407407407407E-2</c:v>
                </c:pt>
                <c:pt idx="22">
                  <c:v>1.3541666666666667E-2</c:v>
                </c:pt>
                <c:pt idx="23">
                  <c:v>1.3958333333333335E-2</c:v>
                </c:pt>
                <c:pt idx="24">
                  <c:v>1.1064814814814814E-2</c:v>
                </c:pt>
                <c:pt idx="25">
                  <c:v>1.8530092592592595E-2</c:v>
                </c:pt>
                <c:pt idx="26">
                  <c:v>1.5879629629629629E-2</c:v>
                </c:pt>
                <c:pt idx="27">
                  <c:v>1.4085648148148151E-2</c:v>
                </c:pt>
                <c:pt idx="28">
                  <c:v>1.4097222222222221E-2</c:v>
                </c:pt>
                <c:pt idx="29">
                  <c:v>1.0358796296296295E-2</c:v>
                </c:pt>
                <c:pt idx="30">
                  <c:v>2.0277777777777777E-2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01-4A7B-9477-F57AEF9AC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2315584"/>
        <c:axId val="1441336752"/>
      </c:lineChart>
      <c:catAx>
        <c:axId val="15040695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04071008"/>
        <c:crosses val="autoZero"/>
        <c:auto val="1"/>
        <c:lblAlgn val="ctr"/>
        <c:lblOffset val="31"/>
        <c:tickLblSkip val="1"/>
        <c:noMultiLvlLbl val="0"/>
      </c:catAx>
      <c:valAx>
        <c:axId val="1504071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04069568"/>
        <c:crosses val="autoZero"/>
        <c:crossBetween val="between"/>
      </c:valAx>
      <c:valAx>
        <c:axId val="1441336752"/>
        <c:scaling>
          <c:orientation val="minMax"/>
        </c:scaling>
        <c:delete val="0"/>
        <c:axPos val="r"/>
        <c:numFmt formatCode="#,##0.00_);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12315584"/>
        <c:crosses val="max"/>
        <c:crossBetween val="between"/>
      </c:valAx>
      <c:catAx>
        <c:axId val="1512315584"/>
        <c:scaling>
          <c:orientation val="minMax"/>
        </c:scaling>
        <c:delete val="1"/>
        <c:axPos val="b"/>
        <c:majorTickMark val="out"/>
        <c:minorTickMark val="none"/>
        <c:tickLblPos val="nextTo"/>
        <c:crossAx val="14413367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245075342279248"/>
          <c:y val="0.8819637121800129"/>
          <c:w val="0.66918571815752936"/>
          <c:h val="9.00853347731864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sz="1600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DLaM Display" panose="02010000000000000000" pitchFamily="2" charset="0"/>
                <a:cs typeface="Calibri" panose="020F0502020204030204" pitchFamily="34" charset="0"/>
              </a:rPr>
              <a:t>Tendencia diaria solicitudes aprobadas vs declinadas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'Centro Contacto'!$B$3</c:f>
              <c:strCache>
                <c:ptCount val="1"/>
                <c:pt idx="0">
                  <c:v>Solicitud_Aprobada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'Centro Contacto'!$B$4:$B$34</c:f>
              <c:numCache>
                <c:formatCode>0%</c:formatCode>
                <c:ptCount val="31"/>
                <c:pt idx="0">
                  <c:v>0.65</c:v>
                </c:pt>
                <c:pt idx="1">
                  <c:v>0.68</c:v>
                </c:pt>
                <c:pt idx="2">
                  <c:v>0.66</c:v>
                </c:pt>
                <c:pt idx="3">
                  <c:v>0.68</c:v>
                </c:pt>
                <c:pt idx="4">
                  <c:v>0.69</c:v>
                </c:pt>
                <c:pt idx="5">
                  <c:v>0.65</c:v>
                </c:pt>
                <c:pt idx="6">
                  <c:v>0.67</c:v>
                </c:pt>
                <c:pt idx="7">
                  <c:v>0.64</c:v>
                </c:pt>
                <c:pt idx="8">
                  <c:v>0.68</c:v>
                </c:pt>
                <c:pt idx="9">
                  <c:v>0.63</c:v>
                </c:pt>
                <c:pt idx="10">
                  <c:v>0.69</c:v>
                </c:pt>
                <c:pt idx="11">
                  <c:v>0.72</c:v>
                </c:pt>
                <c:pt idx="12">
                  <c:v>0.63</c:v>
                </c:pt>
                <c:pt idx="13">
                  <c:v>0.66</c:v>
                </c:pt>
                <c:pt idx="14">
                  <c:v>0.62</c:v>
                </c:pt>
                <c:pt idx="15">
                  <c:v>0.67</c:v>
                </c:pt>
                <c:pt idx="16">
                  <c:v>0.64</c:v>
                </c:pt>
                <c:pt idx="17">
                  <c:v>0.65</c:v>
                </c:pt>
                <c:pt idx="18">
                  <c:v>0.65</c:v>
                </c:pt>
                <c:pt idx="19">
                  <c:v>0.62</c:v>
                </c:pt>
                <c:pt idx="20">
                  <c:v>0.66</c:v>
                </c:pt>
                <c:pt idx="21">
                  <c:v>0.66</c:v>
                </c:pt>
                <c:pt idx="22">
                  <c:v>0.61</c:v>
                </c:pt>
                <c:pt idx="23">
                  <c:v>0.63</c:v>
                </c:pt>
                <c:pt idx="24">
                  <c:v>0.66</c:v>
                </c:pt>
                <c:pt idx="25">
                  <c:v>0.61</c:v>
                </c:pt>
                <c:pt idx="26">
                  <c:v>0.61</c:v>
                </c:pt>
                <c:pt idx="27">
                  <c:v>0.57999999999999996</c:v>
                </c:pt>
                <c:pt idx="28">
                  <c:v>0.61</c:v>
                </c:pt>
                <c:pt idx="29">
                  <c:v>0.63</c:v>
                </c:pt>
                <c:pt idx="30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3-4166-8B22-0A16CA0B6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80499647"/>
        <c:axId val="1280490047"/>
      </c:barChart>
      <c:barChart>
        <c:barDir val="col"/>
        <c:grouping val="clustered"/>
        <c:varyColors val="0"/>
        <c:ser>
          <c:idx val="0"/>
          <c:order val="0"/>
          <c:tx>
            <c:strRef>
              <c:f>'Centro Contacto'!$A$3</c:f>
              <c:strCache>
                <c:ptCount val="1"/>
                <c:pt idx="0">
                  <c:v>Dia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'Centro Contacto'!$A$4:$A$34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A3-4166-8B22-0A16CA0B6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628800"/>
        <c:axId val="914632160"/>
      </c:barChart>
      <c:lineChart>
        <c:grouping val="standard"/>
        <c:varyColors val="0"/>
        <c:ser>
          <c:idx val="2"/>
          <c:order val="2"/>
          <c:tx>
            <c:strRef>
              <c:f>'Centro Contacto'!$C$3</c:f>
              <c:strCache>
                <c:ptCount val="1"/>
                <c:pt idx="0">
                  <c:v>Solicitud_Declinada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'Centro Contacto'!$C$4:$C$34</c:f>
              <c:numCache>
                <c:formatCode>0%</c:formatCode>
                <c:ptCount val="31"/>
                <c:pt idx="0">
                  <c:v>0.35</c:v>
                </c:pt>
                <c:pt idx="1">
                  <c:v>0.32</c:v>
                </c:pt>
                <c:pt idx="2">
                  <c:v>0.34</c:v>
                </c:pt>
                <c:pt idx="3">
                  <c:v>0.32</c:v>
                </c:pt>
                <c:pt idx="4">
                  <c:v>0.31</c:v>
                </c:pt>
                <c:pt idx="5">
                  <c:v>0.35</c:v>
                </c:pt>
                <c:pt idx="6">
                  <c:v>0.34</c:v>
                </c:pt>
                <c:pt idx="7">
                  <c:v>0.36</c:v>
                </c:pt>
                <c:pt idx="8">
                  <c:v>0.32</c:v>
                </c:pt>
                <c:pt idx="9">
                  <c:v>0.37</c:v>
                </c:pt>
                <c:pt idx="10">
                  <c:v>0.31</c:v>
                </c:pt>
                <c:pt idx="11">
                  <c:v>0.28000000000000003</c:v>
                </c:pt>
                <c:pt idx="12">
                  <c:v>0.36</c:v>
                </c:pt>
                <c:pt idx="13">
                  <c:v>0.34</c:v>
                </c:pt>
                <c:pt idx="14">
                  <c:v>0.38</c:v>
                </c:pt>
                <c:pt idx="15">
                  <c:v>0.33</c:v>
                </c:pt>
                <c:pt idx="16">
                  <c:v>0.36</c:v>
                </c:pt>
                <c:pt idx="17">
                  <c:v>0.35</c:v>
                </c:pt>
                <c:pt idx="18">
                  <c:v>0.35</c:v>
                </c:pt>
                <c:pt idx="19">
                  <c:v>0.38</c:v>
                </c:pt>
                <c:pt idx="20">
                  <c:v>0.34</c:v>
                </c:pt>
                <c:pt idx="21">
                  <c:v>0.34</c:v>
                </c:pt>
                <c:pt idx="22">
                  <c:v>0.39</c:v>
                </c:pt>
                <c:pt idx="23">
                  <c:v>0.37</c:v>
                </c:pt>
                <c:pt idx="24">
                  <c:v>0.34</c:v>
                </c:pt>
                <c:pt idx="25">
                  <c:v>0.39</c:v>
                </c:pt>
                <c:pt idx="26">
                  <c:v>0.39</c:v>
                </c:pt>
                <c:pt idx="27">
                  <c:v>0.42</c:v>
                </c:pt>
                <c:pt idx="28">
                  <c:v>0.38</c:v>
                </c:pt>
                <c:pt idx="29">
                  <c:v>0.37</c:v>
                </c:pt>
                <c:pt idx="30">
                  <c:v>0.38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A3-4166-8B22-0A16CA0B6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0499647"/>
        <c:axId val="1280490047"/>
      </c:lineChart>
      <c:catAx>
        <c:axId val="12804996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80490047"/>
        <c:crosses val="autoZero"/>
        <c:auto val="1"/>
        <c:lblAlgn val="ctr"/>
        <c:lblOffset val="100"/>
        <c:noMultiLvlLbl val="0"/>
      </c:catAx>
      <c:valAx>
        <c:axId val="128049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280499647"/>
        <c:crosses val="autoZero"/>
        <c:crossBetween val="between"/>
      </c:valAx>
      <c:valAx>
        <c:axId val="9146321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914628800"/>
        <c:crosses val="max"/>
        <c:crossBetween val="between"/>
      </c:valAx>
      <c:catAx>
        <c:axId val="914628800"/>
        <c:scaling>
          <c:orientation val="minMax"/>
        </c:scaling>
        <c:delete val="1"/>
        <c:axPos val="b"/>
        <c:majorTickMark val="out"/>
        <c:minorTickMark val="none"/>
        <c:tickLblPos val="nextTo"/>
        <c:crossAx val="9146321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237394479303631"/>
          <c:y val="0.49817662821857162"/>
          <c:w val="0.24346432377360708"/>
          <c:h val="0.28346232586008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t" anchorCtr="0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sz="1600" b="1" i="0" u="none" strike="noStrik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DLaM Display" panose="02010000000000000000" pitchFamily="2" charset="0"/>
                <a:cs typeface="Calibri" panose="020F0502020204030204" pitchFamily="34" charset="0"/>
              </a:rPr>
              <a:t>Cumplimiento: Abandono y Nivel de Servicio vs Metas</a:t>
            </a:r>
            <a:endParaRPr lang="es-DO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DLaM Display" panose="02010000000000000000" pitchFamily="2" charset="0"/>
              <a:cs typeface="Calibri" panose="020F0502020204030204" pitchFamily="34" charset="0"/>
            </a:endParaRPr>
          </a:p>
        </c:rich>
      </c:tx>
      <c:layout>
        <c:manualLayout>
          <c:xMode val="edge"/>
          <c:yMode val="edge"/>
          <c:x val="0.12218015859739295"/>
          <c:y val="3.1707195286363413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'Centro Contacto'!$B$79</c:f>
              <c:strCache>
                <c:ptCount val="1"/>
                <c:pt idx="0">
                  <c:v>Abandono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'Centro Contacto'!$B$80:$B$110</c:f>
              <c:numCache>
                <c:formatCode>0%</c:formatCode>
                <c:ptCount val="31"/>
                <c:pt idx="0">
                  <c:v>0.59</c:v>
                </c:pt>
                <c:pt idx="1">
                  <c:v>0.52</c:v>
                </c:pt>
                <c:pt idx="2">
                  <c:v>0.34</c:v>
                </c:pt>
                <c:pt idx="3">
                  <c:v>2.5999999999999999E-2</c:v>
                </c:pt>
                <c:pt idx="4">
                  <c:v>7.0000000000000007E-2</c:v>
                </c:pt>
                <c:pt idx="5">
                  <c:v>0.63560000000000005</c:v>
                </c:pt>
                <c:pt idx="6">
                  <c:v>0.46</c:v>
                </c:pt>
                <c:pt idx="7">
                  <c:v>0.51</c:v>
                </c:pt>
                <c:pt idx="8">
                  <c:v>0.4</c:v>
                </c:pt>
                <c:pt idx="9">
                  <c:v>0.09</c:v>
                </c:pt>
                <c:pt idx="10">
                  <c:v>0.03</c:v>
                </c:pt>
                <c:pt idx="11">
                  <c:v>0.44</c:v>
                </c:pt>
                <c:pt idx="12">
                  <c:v>0.5</c:v>
                </c:pt>
                <c:pt idx="13">
                  <c:v>0.5</c:v>
                </c:pt>
                <c:pt idx="14">
                  <c:v>0.44</c:v>
                </c:pt>
                <c:pt idx="15">
                  <c:v>0.39</c:v>
                </c:pt>
                <c:pt idx="16">
                  <c:v>0.12</c:v>
                </c:pt>
                <c:pt idx="17">
                  <c:v>1.11E-2</c:v>
                </c:pt>
                <c:pt idx="18">
                  <c:v>0.14000000000000001</c:v>
                </c:pt>
                <c:pt idx="19">
                  <c:v>0.11</c:v>
                </c:pt>
                <c:pt idx="20">
                  <c:v>0.09</c:v>
                </c:pt>
                <c:pt idx="21">
                  <c:v>0.05</c:v>
                </c:pt>
                <c:pt idx="22">
                  <c:v>0.04</c:v>
                </c:pt>
                <c:pt idx="23">
                  <c:v>0.13</c:v>
                </c:pt>
                <c:pt idx="24">
                  <c:v>0.01</c:v>
                </c:pt>
                <c:pt idx="25">
                  <c:v>0.1353</c:v>
                </c:pt>
                <c:pt idx="26">
                  <c:v>5.6500000000000002E-2</c:v>
                </c:pt>
                <c:pt idx="27">
                  <c:v>0.25609999999999999</c:v>
                </c:pt>
                <c:pt idx="28">
                  <c:v>0.1139</c:v>
                </c:pt>
                <c:pt idx="29">
                  <c:v>0.2757</c:v>
                </c:pt>
                <c:pt idx="30">
                  <c:v>4.3999999999999997E-2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0E-4082-B9C0-A66229149775}"/>
            </c:ext>
          </c:extLst>
        </c:ser>
        <c:ser>
          <c:idx val="3"/>
          <c:order val="3"/>
          <c:tx>
            <c:strRef>
              <c:f>'Centro Contacto'!$D$79</c:f>
              <c:strCache>
                <c:ptCount val="1"/>
                <c:pt idx="0">
                  <c:v>Nivel_Servicio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'Centro Contacto'!$D$80:$D$110</c:f>
              <c:numCache>
                <c:formatCode>0%</c:formatCode>
                <c:ptCount val="31"/>
                <c:pt idx="0">
                  <c:v>0.10680000000000001</c:v>
                </c:pt>
                <c:pt idx="1">
                  <c:v>0.1799</c:v>
                </c:pt>
                <c:pt idx="2">
                  <c:v>0.35449999999999998</c:v>
                </c:pt>
                <c:pt idx="3">
                  <c:v>0.86</c:v>
                </c:pt>
                <c:pt idx="4">
                  <c:v>0.8</c:v>
                </c:pt>
                <c:pt idx="5">
                  <c:v>5.7599999999999998E-2</c:v>
                </c:pt>
                <c:pt idx="6">
                  <c:v>0.24</c:v>
                </c:pt>
                <c:pt idx="7">
                  <c:v>0.21</c:v>
                </c:pt>
                <c:pt idx="8">
                  <c:v>0.2</c:v>
                </c:pt>
                <c:pt idx="9">
                  <c:v>0.64</c:v>
                </c:pt>
                <c:pt idx="10">
                  <c:v>0.89</c:v>
                </c:pt>
                <c:pt idx="11">
                  <c:v>0.19</c:v>
                </c:pt>
                <c:pt idx="12">
                  <c:v>0.19</c:v>
                </c:pt>
                <c:pt idx="13">
                  <c:v>0.21</c:v>
                </c:pt>
                <c:pt idx="14">
                  <c:v>0.23</c:v>
                </c:pt>
                <c:pt idx="15">
                  <c:v>0.33</c:v>
                </c:pt>
                <c:pt idx="16">
                  <c:v>0.56999999999999995</c:v>
                </c:pt>
                <c:pt idx="17">
                  <c:v>0.98</c:v>
                </c:pt>
                <c:pt idx="18">
                  <c:v>0.5</c:v>
                </c:pt>
                <c:pt idx="19">
                  <c:v>0.52</c:v>
                </c:pt>
                <c:pt idx="20">
                  <c:v>0.63</c:v>
                </c:pt>
                <c:pt idx="21">
                  <c:v>0.77</c:v>
                </c:pt>
                <c:pt idx="22">
                  <c:v>0.80589999999999995</c:v>
                </c:pt>
                <c:pt idx="23">
                  <c:v>0.68</c:v>
                </c:pt>
                <c:pt idx="24">
                  <c:v>0.92</c:v>
                </c:pt>
                <c:pt idx="25">
                  <c:v>0.49</c:v>
                </c:pt>
                <c:pt idx="26">
                  <c:v>0.67</c:v>
                </c:pt>
                <c:pt idx="27">
                  <c:v>0.36449999999999999</c:v>
                </c:pt>
                <c:pt idx="28">
                  <c:v>0.58330000000000004</c:v>
                </c:pt>
                <c:pt idx="29">
                  <c:v>0.35859999999999997</c:v>
                </c:pt>
                <c:pt idx="30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0E-4082-B9C0-A66229149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512316064"/>
        <c:axId val="1512316544"/>
      </c:barChart>
      <c:lineChart>
        <c:grouping val="standard"/>
        <c:varyColors val="0"/>
        <c:ser>
          <c:idx val="0"/>
          <c:order val="0"/>
          <c:tx>
            <c:strRef>
              <c:f>'Centro Contacto'!$A$79</c:f>
              <c:strCache>
                <c:ptCount val="1"/>
                <c:pt idx="0">
                  <c:v>Dia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'Centro Contacto'!$A$80:$A$110</c:f>
              <c:numCache>
                <c:formatCode>General</c:formatCod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0E-4082-B9C0-A66229149775}"/>
            </c:ext>
          </c:extLst>
        </c:ser>
        <c:ser>
          <c:idx val="2"/>
          <c:order val="2"/>
          <c:tx>
            <c:strRef>
              <c:f>'Centro Contacto'!$C$79</c:f>
              <c:strCache>
                <c:ptCount val="1"/>
                <c:pt idx="0">
                  <c:v>Abandono_ Meta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'Centro Contacto'!$C$80:$C$110</c:f>
              <c:numCache>
                <c:formatCode>0%</c:formatCode>
                <c:ptCount val="31"/>
                <c:pt idx="0">
                  <c:v>0.15</c:v>
                </c:pt>
                <c:pt idx="1">
                  <c:v>0.15</c:v>
                </c:pt>
                <c:pt idx="2">
                  <c:v>0.15</c:v>
                </c:pt>
                <c:pt idx="3">
                  <c:v>0.15</c:v>
                </c:pt>
                <c:pt idx="4">
                  <c:v>0.15</c:v>
                </c:pt>
                <c:pt idx="5">
                  <c:v>0.15</c:v>
                </c:pt>
                <c:pt idx="6">
                  <c:v>0.15</c:v>
                </c:pt>
                <c:pt idx="7">
                  <c:v>0.15</c:v>
                </c:pt>
                <c:pt idx="8">
                  <c:v>0.15</c:v>
                </c:pt>
                <c:pt idx="9">
                  <c:v>0.15</c:v>
                </c:pt>
                <c:pt idx="10">
                  <c:v>0.15</c:v>
                </c:pt>
                <c:pt idx="11">
                  <c:v>0.15</c:v>
                </c:pt>
                <c:pt idx="12">
                  <c:v>0.15</c:v>
                </c:pt>
                <c:pt idx="13">
                  <c:v>0.15</c:v>
                </c:pt>
                <c:pt idx="14">
                  <c:v>0.15</c:v>
                </c:pt>
                <c:pt idx="15">
                  <c:v>0.15</c:v>
                </c:pt>
                <c:pt idx="16">
                  <c:v>0.15</c:v>
                </c:pt>
                <c:pt idx="17">
                  <c:v>0.15</c:v>
                </c:pt>
                <c:pt idx="18">
                  <c:v>0.15</c:v>
                </c:pt>
                <c:pt idx="19">
                  <c:v>0.15</c:v>
                </c:pt>
                <c:pt idx="20">
                  <c:v>0.15</c:v>
                </c:pt>
                <c:pt idx="21">
                  <c:v>0.15</c:v>
                </c:pt>
                <c:pt idx="22">
                  <c:v>0.15</c:v>
                </c:pt>
                <c:pt idx="23">
                  <c:v>0.15</c:v>
                </c:pt>
                <c:pt idx="24">
                  <c:v>0.15</c:v>
                </c:pt>
                <c:pt idx="25">
                  <c:v>0.15</c:v>
                </c:pt>
                <c:pt idx="26">
                  <c:v>0.15</c:v>
                </c:pt>
                <c:pt idx="27">
                  <c:v>0.15</c:v>
                </c:pt>
                <c:pt idx="28">
                  <c:v>0.15</c:v>
                </c:pt>
                <c:pt idx="29">
                  <c:v>0.15</c:v>
                </c:pt>
                <c:pt idx="30">
                  <c:v>0.15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0E-4082-B9C0-A66229149775}"/>
            </c:ext>
          </c:extLst>
        </c:ser>
        <c:ser>
          <c:idx val="4"/>
          <c:order val="4"/>
          <c:tx>
            <c:strRef>
              <c:f>'Centro Contacto'!$E$79</c:f>
              <c:strCache>
                <c:ptCount val="1"/>
                <c:pt idx="0">
                  <c:v>Nivel_Servicio_Meta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00B050"/>
                </a:solidFill>
              </a:ln>
              <a:effectLst/>
            </c:spPr>
          </c:marker>
          <c:val>
            <c:numRef>
              <c:f>'Centro Contacto'!$E$80:$E$110</c:f>
              <c:numCache>
                <c:formatCode>0%</c:formatCode>
                <c:ptCount val="31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0E-4082-B9C0-A66229149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27665663"/>
        <c:axId val="1327639263"/>
      </c:lineChart>
      <c:catAx>
        <c:axId val="15123160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12316544"/>
        <c:crosses val="autoZero"/>
        <c:auto val="1"/>
        <c:lblAlgn val="ctr"/>
        <c:lblOffset val="100"/>
        <c:noMultiLvlLbl val="0"/>
      </c:catAx>
      <c:valAx>
        <c:axId val="1512316544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DO"/>
          </a:p>
        </c:txPr>
        <c:crossAx val="1512316064"/>
        <c:crosses val="autoZero"/>
        <c:crossBetween val="between"/>
      </c:valAx>
      <c:valAx>
        <c:axId val="132763926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327665663"/>
        <c:crosses val="max"/>
        <c:crossBetween val="between"/>
      </c:valAx>
      <c:catAx>
        <c:axId val="13276656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27639263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sz="1800" b="1" i="0" u="none" strike="noStrik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DLaM Display" panose="02010000000000000000" pitchFamily="2" charset="0"/>
                <a:cs typeface="Calibri" panose="020F0502020204030204" pitchFamily="34" charset="0"/>
              </a:rPr>
              <a:t>Comparación Tiempo de Espera Promedio vs Meta</a:t>
            </a:r>
            <a:endParaRPr lang="es-DO" sz="1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DLaM Display" panose="02010000000000000000" pitchFamily="2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'Centro Contacto'!$D$3</c:f>
              <c:strCache>
                <c:ptCount val="1"/>
                <c:pt idx="0">
                  <c:v>Tiempo_Espera_Promedio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cap="flat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val>
            <c:numRef>
              <c:f>'Centro Contacto'!$D$4:$D$34</c:f>
              <c:numCache>
                <c:formatCode>General</c:formatCode>
                <c:ptCount val="31"/>
                <c:pt idx="0">
                  <c:v>2.9282407407407412E-3</c:v>
                </c:pt>
                <c:pt idx="1">
                  <c:v>2.9282407407407412E-3</c:v>
                </c:pt>
                <c:pt idx="2">
                  <c:v>8.6574074074074071E-3</c:v>
                </c:pt>
                <c:pt idx="3">
                  <c:v>9.3402777777777772E-3</c:v>
                </c:pt>
                <c:pt idx="4">
                  <c:v>8.7962962962962962E-4</c:v>
                </c:pt>
                <c:pt idx="5">
                  <c:v>7.3495370370370372E-3</c:v>
                </c:pt>
                <c:pt idx="6">
                  <c:v>4.6990740740740743E-3</c:v>
                </c:pt>
                <c:pt idx="7">
                  <c:v>2.1053240740740744E-2</c:v>
                </c:pt>
                <c:pt idx="8">
                  <c:v>3.9699074074074072E-3</c:v>
                </c:pt>
                <c:pt idx="9">
                  <c:v>5.4050925925925924E-3</c:v>
                </c:pt>
                <c:pt idx="10">
                  <c:v>4.8611111111111104E-4</c:v>
                </c:pt>
                <c:pt idx="11">
                  <c:v>1.4930555555555556E-3</c:v>
                </c:pt>
                <c:pt idx="12">
                  <c:v>9.7916666666666655E-3</c:v>
                </c:pt>
                <c:pt idx="13">
                  <c:v>2.0370370370370373E-3</c:v>
                </c:pt>
                <c:pt idx="14">
                  <c:v>1.8402777777777777E-3</c:v>
                </c:pt>
                <c:pt idx="15">
                  <c:v>2.685185185185185E-3</c:v>
                </c:pt>
                <c:pt idx="16">
                  <c:v>7.4421296296296293E-3</c:v>
                </c:pt>
                <c:pt idx="17">
                  <c:v>6.8287037037037025E-4</c:v>
                </c:pt>
                <c:pt idx="18">
                  <c:v>2.0254629629629629E-3</c:v>
                </c:pt>
                <c:pt idx="19">
                  <c:v>2.4421296296296296E-3</c:v>
                </c:pt>
                <c:pt idx="20">
                  <c:v>3.2291666666666666E-3</c:v>
                </c:pt>
                <c:pt idx="21">
                  <c:v>2.6620370370370374E-3</c:v>
                </c:pt>
                <c:pt idx="22">
                  <c:v>3.4490740740740745E-3</c:v>
                </c:pt>
                <c:pt idx="23">
                  <c:v>9.3750000000000007E-4</c:v>
                </c:pt>
                <c:pt idx="24">
                  <c:v>3.7037037037037035E-4</c:v>
                </c:pt>
                <c:pt idx="25">
                  <c:v>4.0972222222222226E-3</c:v>
                </c:pt>
                <c:pt idx="26">
                  <c:v>2.9282407407407412E-3</c:v>
                </c:pt>
                <c:pt idx="27">
                  <c:v>3.2754629629629631E-3</c:v>
                </c:pt>
                <c:pt idx="28">
                  <c:v>3.9004629629629632E-3</c:v>
                </c:pt>
                <c:pt idx="29">
                  <c:v>2.5000000000000001E-3</c:v>
                </c:pt>
                <c:pt idx="30">
                  <c:v>4.6296296296296302E-3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F-45A6-8B66-B52952DAB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02226944"/>
        <c:axId val="1502227424"/>
      </c:barChart>
      <c:lineChart>
        <c:grouping val="standard"/>
        <c:varyColors val="0"/>
        <c:ser>
          <c:idx val="1"/>
          <c:order val="1"/>
          <c:tx>
            <c:strRef>
              <c:f>'Centro Contacto'!$E$3</c:f>
              <c:strCache>
                <c:ptCount val="1"/>
                <c:pt idx="0">
                  <c:v>Tiempo_Espera_Meta</c:v>
                </c:pt>
              </c:strCache>
            </c:strRef>
          </c:tx>
          <c:spPr>
            <a:ln w="34925" cap="rnd" cmpd="thinThick">
              <a:solidFill>
                <a:schemeClr val="accent2"/>
              </a:solidFill>
              <a:round/>
              <a:headEnd type="triangle"/>
              <a:tailEnd type="triangle"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'Centro Contacto'!$E$4:$E$34</c:f>
              <c:numCache>
                <c:formatCode>General</c:formatCode>
                <c:ptCount val="31"/>
                <c:pt idx="0">
                  <c:v>1.0416666666666666E-2</c:v>
                </c:pt>
                <c:pt idx="1">
                  <c:v>1.0416666666666666E-2</c:v>
                </c:pt>
                <c:pt idx="2">
                  <c:v>1.0416666666666666E-2</c:v>
                </c:pt>
                <c:pt idx="3">
                  <c:v>1.0416666666666666E-2</c:v>
                </c:pt>
                <c:pt idx="4">
                  <c:v>1.0416666666666666E-2</c:v>
                </c:pt>
                <c:pt idx="5">
                  <c:v>1.0416666666666666E-2</c:v>
                </c:pt>
                <c:pt idx="6">
                  <c:v>1.0416666666666666E-2</c:v>
                </c:pt>
                <c:pt idx="7">
                  <c:v>1.0416666666666666E-2</c:v>
                </c:pt>
                <c:pt idx="8">
                  <c:v>1.0416666666666666E-2</c:v>
                </c:pt>
                <c:pt idx="9">
                  <c:v>1.0416666666666666E-2</c:v>
                </c:pt>
                <c:pt idx="10">
                  <c:v>1.0416666666666666E-2</c:v>
                </c:pt>
                <c:pt idx="11">
                  <c:v>1.0416666666666666E-2</c:v>
                </c:pt>
                <c:pt idx="12">
                  <c:v>1.0416666666666666E-2</c:v>
                </c:pt>
                <c:pt idx="13">
                  <c:v>1.0416666666666666E-2</c:v>
                </c:pt>
                <c:pt idx="14">
                  <c:v>1.0416666666666666E-2</c:v>
                </c:pt>
                <c:pt idx="15">
                  <c:v>1.0416666666666666E-2</c:v>
                </c:pt>
                <c:pt idx="16">
                  <c:v>1.0416666666666666E-2</c:v>
                </c:pt>
                <c:pt idx="17">
                  <c:v>1.0416666666666666E-2</c:v>
                </c:pt>
                <c:pt idx="18">
                  <c:v>1.0416666666666666E-2</c:v>
                </c:pt>
                <c:pt idx="19">
                  <c:v>1.0416666666666666E-2</c:v>
                </c:pt>
                <c:pt idx="20">
                  <c:v>1.0416666666666666E-2</c:v>
                </c:pt>
                <c:pt idx="21">
                  <c:v>1.0416666666666666E-2</c:v>
                </c:pt>
                <c:pt idx="22">
                  <c:v>1.0416666666666666E-2</c:v>
                </c:pt>
                <c:pt idx="23">
                  <c:v>1.0416666666666666E-2</c:v>
                </c:pt>
                <c:pt idx="24">
                  <c:v>1.0416666666666666E-2</c:v>
                </c:pt>
                <c:pt idx="25">
                  <c:v>1.0416666666666666E-2</c:v>
                </c:pt>
                <c:pt idx="26">
                  <c:v>1.0416666666666666E-2</c:v>
                </c:pt>
                <c:pt idx="27">
                  <c:v>1.0416666666666666E-2</c:v>
                </c:pt>
                <c:pt idx="28">
                  <c:v>1.0416666666666666E-2</c:v>
                </c:pt>
                <c:pt idx="29">
                  <c:v>1.0416666666666666E-2</c:v>
                </c:pt>
                <c:pt idx="30">
                  <c:v>1.0416666666666666E-2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0F-45A6-8B66-B52952DAB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2226944"/>
        <c:axId val="1502227424"/>
      </c:lineChart>
      <c:catAx>
        <c:axId val="15022269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02227424"/>
        <c:crosses val="autoZero"/>
        <c:auto val="1"/>
        <c:lblAlgn val="ctr"/>
        <c:lblOffset val="100"/>
        <c:noMultiLvlLbl val="0"/>
      </c:catAx>
      <c:valAx>
        <c:axId val="150222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  <a:headEnd type="triangle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0222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DO" sz="1600" b="1" i="0" u="none" strike="noStrike" baseline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Volumen Total de Interacciones por Canal</a:t>
            </a:r>
            <a:endParaRPr lang="es-DO" sz="1600" b="1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DO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Dashboard_CentroContacto!$A$2</c:f>
              <c:strCache>
                <c:ptCount val="1"/>
                <c:pt idx="0">
                  <c:v>App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  <a:sp3d/>
          </c:spPr>
          <c:invertIfNegative val="0"/>
          <c:val>
            <c:numRef>
              <c:f>Dashboard_CentroContacto!$B$2</c:f>
              <c:numCache>
                <c:formatCode>General</c:formatCode>
                <c:ptCount val="1"/>
                <c:pt idx="0">
                  <c:v>9655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E4-417D-9497-E89D0927D1C5}"/>
            </c:ext>
          </c:extLst>
        </c:ser>
        <c:ser>
          <c:idx val="1"/>
          <c:order val="1"/>
          <c:tx>
            <c:strRef>
              <c:f>Dashboard_CentroContacto!$A$3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0"/>
          <c:val>
            <c:numRef>
              <c:f>Dashboard_CentroContacto!$B$3</c:f>
              <c:numCache>
                <c:formatCode>General</c:formatCode>
                <c:ptCount val="1"/>
                <c:pt idx="0">
                  <c:v>13056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E4-417D-9497-E89D0927D1C5}"/>
            </c:ext>
          </c:extLst>
        </c:ser>
        <c:ser>
          <c:idx val="2"/>
          <c:order val="2"/>
          <c:tx>
            <c:strRef>
              <c:f>Dashboard_CentroContacto!$A$4</c:f>
              <c:strCache>
                <c:ptCount val="1"/>
                <c:pt idx="0">
                  <c:v>Call Center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p3d/>
          </c:spPr>
          <c:invertIfNegative val="0"/>
          <c:val>
            <c:numRef>
              <c:f>Dashboard_CentroContacto!$B$4</c:f>
              <c:numCache>
                <c:formatCode>General</c:formatCode>
                <c:ptCount val="1"/>
                <c:pt idx="0">
                  <c:v>21339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E4-417D-9497-E89D0927D1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21753775"/>
        <c:axId val="1021756655"/>
        <c:axId val="0"/>
      </c:bar3DChart>
      <c:catAx>
        <c:axId val="102175377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21756655"/>
        <c:crosses val="autoZero"/>
        <c:auto val="1"/>
        <c:lblAlgn val="ctr"/>
        <c:lblOffset val="100"/>
        <c:noMultiLvlLbl val="0"/>
      </c:catAx>
      <c:valAx>
        <c:axId val="1021756655"/>
        <c:scaling>
          <c:orientation val="minMax"/>
          <c:max val="230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0217537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DO" sz="1600" b="1" i="0" u="none" strike="noStrike" baseline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Tiempo de Espera Promedio vs Tasa de Abandono por Canal</a:t>
            </a:r>
            <a:endParaRPr lang="en-US" sz="1600" b="1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DO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Dashboard_CentroContacto!$A$11</c:f>
              <c:strCache>
                <c:ptCount val="1"/>
                <c:pt idx="0">
                  <c:v>App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Dashboard_CentroContacto!$B$10</c:f>
              <c:strCache>
                <c:ptCount val="1"/>
                <c:pt idx="0">
                  <c:v>Tiempo Espera Promedio</c:v>
                </c:pt>
              </c:strCache>
            </c:strRef>
          </c:cat>
          <c:val>
            <c:numRef>
              <c:f>Dashboard_CentroContacto!$B$11</c:f>
              <c:numCache>
                <c:formatCode>[h]:mm:ss</c:formatCode>
                <c:ptCount val="1"/>
                <c:pt idx="0">
                  <c:v>4.1972819593787333E-3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8B87-4377-90C6-7FF9C77B36DA}"/>
            </c:ext>
          </c:extLst>
        </c:ser>
        <c:ser>
          <c:idx val="1"/>
          <c:order val="1"/>
          <c:tx>
            <c:strRef>
              <c:f>Dashboard_CentroContacto!$A$12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Dashboard_CentroContacto!$B$10</c:f>
              <c:strCache>
                <c:ptCount val="1"/>
                <c:pt idx="0">
                  <c:v>Tiempo Espera Promedio</c:v>
                </c:pt>
              </c:strCache>
            </c:strRef>
          </c:cat>
          <c:val>
            <c:numRef>
              <c:f>Dashboard_CentroContacto!$B$12</c:f>
              <c:numCache>
                <c:formatCode>[h]:mm:ss</c:formatCode>
                <c:ptCount val="1"/>
                <c:pt idx="0">
                  <c:v>3.9407855436081251E-3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87-4377-90C6-7FF9C77B3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36895359"/>
        <c:axId val="836877119"/>
        <c:axId val="0"/>
      </c:bar3DChart>
      <c:bar3DChart>
        <c:barDir val="col"/>
        <c:grouping val="clustered"/>
        <c:varyColors val="0"/>
        <c:ser>
          <c:idx val="2"/>
          <c:order val="2"/>
          <c:tx>
            <c:strRef>
              <c:f>Dashboard_CentroContacto!$A$13</c:f>
              <c:strCache>
                <c:ptCount val="1"/>
                <c:pt idx="0">
                  <c:v>Call Center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cat>
            <c:strRef>
              <c:f>Dashboard_CentroContacto!$B$10</c:f>
              <c:strCache>
                <c:ptCount val="1"/>
                <c:pt idx="0">
                  <c:v>Tiempo Espera Promedio</c:v>
                </c:pt>
              </c:strCache>
            </c:strRef>
          </c:cat>
          <c:val>
            <c:numRef>
              <c:f>Dashboard_CentroContacto!$B$13</c:f>
              <c:numCache>
                <c:formatCode>[h]:mm:ss</c:formatCode>
                <c:ptCount val="1"/>
                <c:pt idx="0">
                  <c:v>0.24271612903225803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2-8B87-4377-90C6-7FF9C77B3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59499775"/>
        <c:axId val="859498815"/>
        <c:axId val="0"/>
      </c:bar3DChart>
      <c:catAx>
        <c:axId val="8368953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36877119"/>
        <c:crosses val="autoZero"/>
        <c:auto val="1"/>
        <c:lblAlgn val="ctr"/>
        <c:lblOffset val="100"/>
        <c:noMultiLvlLbl val="0"/>
      </c:catAx>
      <c:valAx>
        <c:axId val="836877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h]:mm:ss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836895359"/>
        <c:crosses val="autoZero"/>
        <c:crossBetween val="between"/>
      </c:valAx>
      <c:valAx>
        <c:axId val="859498815"/>
        <c:scaling>
          <c:orientation val="minMax"/>
        </c:scaling>
        <c:delete val="0"/>
        <c:axPos val="r"/>
        <c:numFmt formatCode="[h]:mm:ss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859499775"/>
        <c:crosses val="max"/>
        <c:crossBetween val="between"/>
      </c:valAx>
      <c:catAx>
        <c:axId val="8594997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59498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DO" sz="1400" b="1" i="0" u="none" strike="noStrike" baseline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Cumplimiento de Meta por Canal de Atención</a:t>
            </a:r>
            <a:endParaRPr lang="es-DO" b="1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DO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Dashboard_CentroContacto!$B$19</c:f>
              <c:strCache>
                <c:ptCount val="1"/>
                <c:pt idx="0">
                  <c:v>Valor Real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Dashboard_CentroContacto!$A$20:$A$22</c:f>
              <c:strCache>
                <c:ptCount val="3"/>
                <c:pt idx="0">
                  <c:v>App</c:v>
                </c:pt>
                <c:pt idx="1">
                  <c:v>Web</c:v>
                </c:pt>
                <c:pt idx="2">
                  <c:v>Call Center</c:v>
                </c:pt>
              </c:strCache>
            </c:strRef>
          </c:cat>
          <c:val>
            <c:numRef>
              <c:f>Dashboard_CentroContacto!$B$20:$B$22</c:f>
              <c:numCache>
                <c:formatCode>General</c:formatCode>
                <c:ptCount val="3"/>
                <c:pt idx="0">
                  <c:v>4.1972819593787333E-3</c:v>
                </c:pt>
                <c:pt idx="1">
                  <c:v>3.9407855436081251E-3</c:v>
                </c:pt>
                <c:pt idx="2">
                  <c:v>0.49680967741935478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A-41C1-82B8-7DFEBB06BD55}"/>
            </c:ext>
          </c:extLst>
        </c:ser>
        <c:ser>
          <c:idx val="1"/>
          <c:order val="1"/>
          <c:tx>
            <c:strRef>
              <c:f>Dashboard_CentroContacto!$C$19</c:f>
              <c:strCache>
                <c:ptCount val="1"/>
                <c:pt idx="0">
                  <c:v>Valor Meta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p3d/>
          </c:spPr>
          <c:invertIfNegative val="0"/>
          <c:cat>
            <c:strRef>
              <c:f>Dashboard_CentroContacto!$A$20:$A$22</c:f>
              <c:strCache>
                <c:ptCount val="3"/>
                <c:pt idx="0">
                  <c:v>App</c:v>
                </c:pt>
                <c:pt idx="1">
                  <c:v>Web</c:v>
                </c:pt>
                <c:pt idx="2">
                  <c:v>Call Center</c:v>
                </c:pt>
              </c:strCache>
            </c:strRef>
          </c:cat>
          <c:val>
            <c:numRef>
              <c:f>Dashboard_CentroContacto!$C$20:$C$22</c:f>
              <c:numCache>
                <c:formatCode>General</c:formatCode>
                <c:ptCount val="3"/>
                <c:pt idx="0">
                  <c:v>1.0416666666666668E-2</c:v>
                </c:pt>
                <c:pt idx="1">
                  <c:v>1.525910991636798E-2</c:v>
                </c:pt>
                <c:pt idx="2">
                  <c:v>0.80000000000000038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3A-41C1-82B8-7DFEBB06B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59484895"/>
        <c:axId val="859489695"/>
        <c:axId val="0"/>
      </c:bar3DChart>
      <c:catAx>
        <c:axId val="85948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859489695"/>
        <c:crosses val="autoZero"/>
        <c:auto val="1"/>
        <c:lblAlgn val="ctr"/>
        <c:lblOffset val="100"/>
        <c:noMultiLvlLbl val="0"/>
      </c:catAx>
      <c:valAx>
        <c:axId val="85948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859484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Top 10 - Sucursales por volumen de atenciones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>
        <c:manualLayout>
          <c:layoutTarget val="inner"/>
          <c:xMode val="edge"/>
          <c:yMode val="edge"/>
          <c:x val="7.0702588340159203E-2"/>
          <c:y val="0.14432827416450061"/>
          <c:w val="0.90864013771910279"/>
          <c:h val="0.72594984152478348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Top10_Sucursales!$B$1</c:f>
              <c:strCache>
                <c:ptCount val="1"/>
                <c:pt idx="0">
                  <c:v>Total AT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221-4473-BB5F-6BF0AD0393DC}"/>
              </c:ext>
            </c:extLst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221-4473-BB5F-6BF0AD0393DC}"/>
              </c:ext>
            </c:extLst>
          </c:dPt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221-4473-BB5F-6BF0AD0393DC}"/>
              </c:ext>
            </c:extLst>
          </c:dPt>
          <c:dPt>
            <c:idx val="3"/>
            <c:invertIfNegative val="0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221-4473-BB5F-6BF0AD0393DC}"/>
              </c:ext>
            </c:extLst>
          </c:dPt>
          <c:dPt>
            <c:idx val="4"/>
            <c:invertIfNegative val="0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221-4473-BB5F-6BF0AD0393DC}"/>
              </c:ext>
            </c:extLst>
          </c:dPt>
          <c:dPt>
            <c:idx val="5"/>
            <c:invertIfNegative val="0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D221-4473-BB5F-6BF0AD0393DC}"/>
              </c:ext>
            </c:extLst>
          </c:dPt>
          <c:dPt>
            <c:idx val="6"/>
            <c:invertIfNegative val="0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D221-4473-BB5F-6BF0AD0393DC}"/>
              </c:ext>
            </c:extLst>
          </c:dPt>
          <c:dPt>
            <c:idx val="7"/>
            <c:invertIfNegative val="0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D221-4473-BB5F-6BF0AD0393DC}"/>
              </c:ext>
            </c:extLst>
          </c:dPt>
          <c:dPt>
            <c:idx val="8"/>
            <c:invertIfNegative val="0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D221-4473-BB5F-6BF0AD0393DC}"/>
              </c:ext>
            </c:extLst>
          </c:dPt>
          <c:dPt>
            <c:idx val="9"/>
            <c:invertIfNegative val="0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D221-4473-BB5F-6BF0AD0393DC}"/>
              </c:ext>
            </c:extLst>
          </c:dPt>
          <c:cat>
            <c:strRef>
              <c:f>Top10_Sucursales!$A$2:$A$11</c:f>
              <c:strCache>
                <c:ptCount val="10"/>
                <c:pt idx="0">
                  <c:v>Los Alcarrizos</c:v>
                </c:pt>
                <c:pt idx="1">
                  <c:v>San Pedro De Macoris 2</c:v>
                </c:pt>
                <c:pt idx="2">
                  <c:v>Laboratorio Principal</c:v>
                </c:pt>
                <c:pt idx="3">
                  <c:v>Megacentro</c:v>
                </c:pt>
                <c:pt idx="4">
                  <c:v>Carretera Mella</c:v>
                </c:pt>
                <c:pt idx="5">
                  <c:v>Boca Chica</c:v>
                </c:pt>
                <c:pt idx="6">
                  <c:v>Cruz Jiminian</c:v>
                </c:pt>
                <c:pt idx="7">
                  <c:v>Villa Mella</c:v>
                </c:pt>
                <c:pt idx="8">
                  <c:v>Ozama</c:v>
                </c:pt>
                <c:pt idx="9">
                  <c:v>Ave. Independencia</c:v>
                </c:pt>
              </c:strCache>
            </c:strRef>
          </c:cat>
          <c:val>
            <c:numRef>
              <c:f>Top10_Sucursales!$B$2:$B$11</c:f>
              <c:numCache>
                <c:formatCode>General</c:formatCode>
                <c:ptCount val="10"/>
                <c:pt idx="0">
                  <c:v>12542</c:v>
                </c:pt>
                <c:pt idx="1">
                  <c:v>12505</c:v>
                </c:pt>
                <c:pt idx="2">
                  <c:v>11997</c:v>
                </c:pt>
                <c:pt idx="3">
                  <c:v>11801</c:v>
                </c:pt>
                <c:pt idx="4">
                  <c:v>11215</c:v>
                </c:pt>
                <c:pt idx="5">
                  <c:v>10494</c:v>
                </c:pt>
                <c:pt idx="6">
                  <c:v>10333</c:v>
                </c:pt>
                <c:pt idx="7">
                  <c:v>9993</c:v>
                </c:pt>
                <c:pt idx="8">
                  <c:v>9566</c:v>
                </c:pt>
                <c:pt idx="9">
                  <c:v>8777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221-4473-BB5F-6BF0AD0393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87719520"/>
        <c:axId val="687720000"/>
      </c:barChart>
      <c:catAx>
        <c:axId val="6877195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87720000"/>
        <c:crosses val="autoZero"/>
        <c:auto val="1"/>
        <c:lblAlgn val="ctr"/>
        <c:lblOffset val="100"/>
        <c:noMultiLvlLbl val="0"/>
      </c:catAx>
      <c:valAx>
        <c:axId val="687720000"/>
        <c:scaling>
          <c:orientation val="minMax"/>
          <c:max val="1300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687719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262169936465207"/>
          <c:y val="0.8411113698246081"/>
          <c:w val="0.84733860525102878"/>
          <c:h val="0.1362577990239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sz="1800" dirty="0">
                <a:latin typeface="Calibri" panose="020F0502020204030204" pitchFamily="34" charset="0"/>
                <a:cs typeface="Calibri" panose="020F0502020204030204" pitchFamily="34" charset="0"/>
              </a:rPr>
              <a:t>Top 10 - Promedio Tiempo de Espera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Top10_Sucursales!$B$1</c:f>
              <c:strCache>
                <c:ptCount val="1"/>
                <c:pt idx="0">
                  <c:v>Total AT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52B-4440-8088-4997E2ACCBE1}"/>
              </c:ext>
            </c:extLst>
          </c:dPt>
          <c:cat>
            <c:strRef>
              <c:f>Top10_Sucursales!$A$2:$A$11</c:f>
              <c:strCache>
                <c:ptCount val="10"/>
                <c:pt idx="0">
                  <c:v>Los Alcarrizos</c:v>
                </c:pt>
                <c:pt idx="1">
                  <c:v>San Pedro De Macoris 2</c:v>
                </c:pt>
                <c:pt idx="2">
                  <c:v>Laboratorio Principal</c:v>
                </c:pt>
                <c:pt idx="3">
                  <c:v>Megacentro</c:v>
                </c:pt>
                <c:pt idx="4">
                  <c:v>Carretera Mella</c:v>
                </c:pt>
                <c:pt idx="5">
                  <c:v>Boca Chica</c:v>
                </c:pt>
                <c:pt idx="6">
                  <c:v>Cruz Jiminian</c:v>
                </c:pt>
                <c:pt idx="7">
                  <c:v>Villa Mella</c:v>
                </c:pt>
                <c:pt idx="8">
                  <c:v>Ozama</c:v>
                </c:pt>
                <c:pt idx="9">
                  <c:v>Ave. Independencia</c:v>
                </c:pt>
              </c:strCache>
            </c:strRef>
          </c:cat>
          <c:val>
            <c:numRef>
              <c:f>Top10_Sucursales!$B$2:$B$11</c:f>
              <c:numCache>
                <c:formatCode>General</c:formatCode>
                <c:ptCount val="10"/>
                <c:pt idx="0">
                  <c:v>12542</c:v>
                </c:pt>
                <c:pt idx="1">
                  <c:v>12505</c:v>
                </c:pt>
                <c:pt idx="2">
                  <c:v>11997</c:v>
                </c:pt>
                <c:pt idx="3">
                  <c:v>11801</c:v>
                </c:pt>
                <c:pt idx="4">
                  <c:v>11215</c:v>
                </c:pt>
                <c:pt idx="5">
                  <c:v>10494</c:v>
                </c:pt>
                <c:pt idx="6">
                  <c:v>10333</c:v>
                </c:pt>
                <c:pt idx="7">
                  <c:v>9993</c:v>
                </c:pt>
                <c:pt idx="8">
                  <c:v>9566</c:v>
                </c:pt>
                <c:pt idx="9">
                  <c:v>8777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2B-4440-8088-4997E2ACC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3935216"/>
        <c:axId val="903936656"/>
      </c:barChart>
      <c:lineChart>
        <c:grouping val="standard"/>
        <c:varyColors val="1"/>
        <c:ser>
          <c:idx val="1"/>
          <c:order val="1"/>
          <c:tx>
            <c:strRef>
              <c:f>Top10_Sucursales!$C$1</c:f>
              <c:strCache>
                <c:ptCount val="1"/>
                <c:pt idx="0">
                  <c:v>Promedio TE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552B-4440-8088-4997E2ACCBE1}"/>
              </c:ext>
            </c:extLst>
          </c:dPt>
          <c:cat>
            <c:strRef>
              <c:f>Top10_Sucursales!$A$2:$A$11</c:f>
              <c:strCache>
                <c:ptCount val="10"/>
                <c:pt idx="0">
                  <c:v>Los Alcarrizos</c:v>
                </c:pt>
                <c:pt idx="1">
                  <c:v>San Pedro De Macoris 2</c:v>
                </c:pt>
                <c:pt idx="2">
                  <c:v>Laboratorio Principal</c:v>
                </c:pt>
                <c:pt idx="3">
                  <c:v>Megacentro</c:v>
                </c:pt>
                <c:pt idx="4">
                  <c:v>Carretera Mella</c:v>
                </c:pt>
                <c:pt idx="5">
                  <c:v>Boca Chica</c:v>
                </c:pt>
                <c:pt idx="6">
                  <c:v>Cruz Jiminian</c:v>
                </c:pt>
                <c:pt idx="7">
                  <c:v>Villa Mella</c:v>
                </c:pt>
                <c:pt idx="8">
                  <c:v>Ozama</c:v>
                </c:pt>
                <c:pt idx="9">
                  <c:v>Ave. Independencia</c:v>
                </c:pt>
              </c:strCache>
            </c:strRef>
          </c:cat>
          <c:val>
            <c:numRef>
              <c:f>Top10_Sucursales!$C$2:$C$11</c:f>
              <c:numCache>
                <c:formatCode>0.00%;\-0.00%;0.00%</c:formatCode>
                <c:ptCount val="10"/>
                <c:pt idx="0">
                  <c:v>1.0925925925925926E-2</c:v>
                </c:pt>
                <c:pt idx="1">
                  <c:v>1.6354166666666666E-2</c:v>
                </c:pt>
                <c:pt idx="2">
                  <c:v>7.8935185185185185E-3</c:v>
                </c:pt>
                <c:pt idx="3">
                  <c:v>1.019675925925926E-2</c:v>
                </c:pt>
                <c:pt idx="4">
                  <c:v>9.6412037037037039E-3</c:v>
                </c:pt>
                <c:pt idx="5">
                  <c:v>6.2500000000000003E-3</c:v>
                </c:pt>
                <c:pt idx="6">
                  <c:v>9.4212962962962957E-3</c:v>
                </c:pt>
                <c:pt idx="7">
                  <c:v>7.9166666666666673E-3</c:v>
                </c:pt>
                <c:pt idx="8">
                  <c:v>8.0902777777777778E-3</c:v>
                </c:pt>
                <c:pt idx="9">
                  <c:v>1.1493055555555555E-2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52B-4440-8088-4997E2ACC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2864096"/>
        <c:axId val="452869856"/>
      </c:lineChart>
      <c:catAx>
        <c:axId val="9039352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3936656"/>
        <c:crosses val="autoZero"/>
        <c:auto val="1"/>
        <c:lblAlgn val="ctr"/>
        <c:lblOffset val="100"/>
        <c:noMultiLvlLbl val="0"/>
      </c:catAx>
      <c:valAx>
        <c:axId val="903936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903935216"/>
        <c:crosses val="autoZero"/>
        <c:crossBetween val="between"/>
      </c:valAx>
      <c:valAx>
        <c:axId val="452869856"/>
        <c:scaling>
          <c:orientation val="minMax"/>
        </c:scaling>
        <c:delete val="0"/>
        <c:axPos val="r"/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452864096"/>
        <c:crosses val="max"/>
        <c:crossBetween val="between"/>
      </c:valAx>
      <c:catAx>
        <c:axId val="4528640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528698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cap="none" spc="0" normalizeH="0" baseline="0">
                <a:solidFill>
                  <a:sysClr val="windowText" lastClr="000000"/>
                </a:solidFill>
                <a:latin typeface="+mj-lt"/>
                <a:ea typeface="+mj-ea"/>
                <a:cs typeface="+mj-cs"/>
              </a:defRPr>
            </a:pPr>
            <a:r>
              <a:rPr lang="es-DO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10 - TE vs. AT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cap="none" spc="0" normalizeH="0" baseline="0">
              <a:solidFill>
                <a:sysClr val="windowText" lastClr="000000"/>
              </a:solidFill>
              <a:latin typeface="+mj-lt"/>
              <a:ea typeface="+mj-ea"/>
              <a:cs typeface="+mj-cs"/>
            </a:defRPr>
          </a:pPr>
          <a:endParaRPr lang="es-D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Top10_Sucursales!$B$1</c:f>
              <c:strCache>
                <c:ptCount val="1"/>
                <c:pt idx="0">
                  <c:v>Total AT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Top10_Sucursales!$A$2:$A$11</c:f>
              <c:strCache>
                <c:ptCount val="10"/>
                <c:pt idx="0">
                  <c:v>Los Alcarrizos</c:v>
                </c:pt>
                <c:pt idx="1">
                  <c:v>San Pedro De Macoris 2</c:v>
                </c:pt>
                <c:pt idx="2">
                  <c:v>Laboratorio Principal</c:v>
                </c:pt>
                <c:pt idx="3">
                  <c:v>Megacentro</c:v>
                </c:pt>
                <c:pt idx="4">
                  <c:v>Carretera Mella</c:v>
                </c:pt>
                <c:pt idx="5">
                  <c:v>Boca Chica</c:v>
                </c:pt>
                <c:pt idx="6">
                  <c:v>Cruz Jiminian</c:v>
                </c:pt>
                <c:pt idx="7">
                  <c:v>Villa Mella</c:v>
                </c:pt>
                <c:pt idx="8">
                  <c:v>Ozama</c:v>
                </c:pt>
                <c:pt idx="9">
                  <c:v>Ave. Independencia</c:v>
                </c:pt>
              </c:strCache>
            </c:strRef>
          </c:cat>
          <c:val>
            <c:numRef>
              <c:f>Top10_Sucursales!$B$2:$B$11</c:f>
              <c:numCache>
                <c:formatCode>General</c:formatCode>
                <c:ptCount val="10"/>
                <c:pt idx="0">
                  <c:v>12542</c:v>
                </c:pt>
                <c:pt idx="1">
                  <c:v>12505</c:v>
                </c:pt>
                <c:pt idx="2">
                  <c:v>11997</c:v>
                </c:pt>
                <c:pt idx="3">
                  <c:v>11801</c:v>
                </c:pt>
                <c:pt idx="4">
                  <c:v>11215</c:v>
                </c:pt>
                <c:pt idx="5">
                  <c:v>10494</c:v>
                </c:pt>
                <c:pt idx="6">
                  <c:v>10333</c:v>
                </c:pt>
                <c:pt idx="7">
                  <c:v>9993</c:v>
                </c:pt>
                <c:pt idx="8">
                  <c:v>9566</c:v>
                </c:pt>
                <c:pt idx="9">
                  <c:v>8777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A8-4D2F-AA2B-2726697C0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axId val="312868112"/>
        <c:axId val="312881552"/>
      </c:barChart>
      <c:lineChart>
        <c:grouping val="standard"/>
        <c:varyColors val="0"/>
        <c:ser>
          <c:idx val="1"/>
          <c:order val="1"/>
          <c:tx>
            <c:strRef>
              <c:f>Top10_Sucursales!$C$1</c:f>
              <c:strCache>
                <c:ptCount val="1"/>
                <c:pt idx="0">
                  <c:v>Promedio TE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Top10_Sucursales!$A$2:$A$11</c:f>
              <c:strCache>
                <c:ptCount val="10"/>
                <c:pt idx="0">
                  <c:v>Los Alcarrizos</c:v>
                </c:pt>
                <c:pt idx="1">
                  <c:v>San Pedro De Macoris 2</c:v>
                </c:pt>
                <c:pt idx="2">
                  <c:v>Laboratorio Principal</c:v>
                </c:pt>
                <c:pt idx="3">
                  <c:v>Megacentro</c:v>
                </c:pt>
                <c:pt idx="4">
                  <c:v>Carretera Mella</c:v>
                </c:pt>
                <c:pt idx="5">
                  <c:v>Boca Chica</c:v>
                </c:pt>
                <c:pt idx="6">
                  <c:v>Cruz Jiminian</c:v>
                </c:pt>
                <c:pt idx="7">
                  <c:v>Villa Mella</c:v>
                </c:pt>
                <c:pt idx="8">
                  <c:v>Ozama</c:v>
                </c:pt>
                <c:pt idx="9">
                  <c:v>Ave. Independencia</c:v>
                </c:pt>
              </c:strCache>
            </c:strRef>
          </c:cat>
          <c:val>
            <c:numRef>
              <c:f>Top10_Sucursales!$C$2:$C$11</c:f>
              <c:numCache>
                <c:formatCode>0.00%;\-0.00%;0.00%</c:formatCode>
                <c:ptCount val="10"/>
                <c:pt idx="0">
                  <c:v>1.0925925925925926E-2</c:v>
                </c:pt>
                <c:pt idx="1">
                  <c:v>1.6354166666666666E-2</c:v>
                </c:pt>
                <c:pt idx="2">
                  <c:v>7.8935185185185185E-3</c:v>
                </c:pt>
                <c:pt idx="3">
                  <c:v>1.019675925925926E-2</c:v>
                </c:pt>
                <c:pt idx="4">
                  <c:v>9.6412037037037039E-3</c:v>
                </c:pt>
                <c:pt idx="5">
                  <c:v>6.2500000000000003E-3</c:v>
                </c:pt>
                <c:pt idx="6">
                  <c:v>9.4212962962962957E-3</c:v>
                </c:pt>
                <c:pt idx="7">
                  <c:v>7.9166666666666673E-3</c:v>
                </c:pt>
                <c:pt idx="8">
                  <c:v>8.0902777777777778E-3</c:v>
                </c:pt>
                <c:pt idx="9">
                  <c:v>1.1493055555555555E-2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A8-4D2F-AA2B-2726697C0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2868592"/>
        <c:axId val="312891152"/>
      </c:lineChart>
      <c:catAx>
        <c:axId val="312868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2881552"/>
        <c:crosses val="autoZero"/>
        <c:auto val="1"/>
        <c:lblAlgn val="ctr"/>
        <c:lblOffset val="100"/>
        <c:noMultiLvlLbl val="0"/>
      </c:catAx>
      <c:valAx>
        <c:axId val="31288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312868112"/>
        <c:crosses val="autoZero"/>
        <c:crossBetween val="between"/>
      </c:valAx>
      <c:valAx>
        <c:axId val="312891152"/>
        <c:scaling>
          <c:orientation val="minMax"/>
        </c:scaling>
        <c:delete val="0"/>
        <c:axPos val="r"/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312868592"/>
        <c:crosses val="max"/>
        <c:crossBetween val="between"/>
      </c:valAx>
      <c:catAx>
        <c:axId val="3128685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2891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sz="1800" b="1" i="0" u="none" strike="noStrik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Facturación Ejecutada y Crecimiento Anual  </a:t>
            </a:r>
            <a:endParaRPr lang="es-DO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DLaM Display" panose="02010000000000000000" pitchFamily="2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Top_Facturación!$B$1</c:f>
              <c:strCache>
                <c:ptCount val="1"/>
                <c:pt idx="0">
                  <c:v>No. de Facturas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trendline>
            <c:spPr>
              <a:ln w="19050" cap="rnd">
                <a:solidFill>
                  <a:schemeClr val="accent1"/>
                </a:solidFill>
                <a:prstDash val="sysDot"/>
                <a:headEnd type="diamond"/>
                <a:tailEnd type="diamond"/>
              </a:ln>
              <a:effectLst/>
            </c:spPr>
            <c:trendlineType val="linear"/>
            <c:dispRSqr val="0"/>
            <c:dispEq val="0"/>
          </c:trendline>
          <c:cat>
            <c:strRef>
              <c:f>Top_Facturación!$A$2:$A$11</c:f>
              <c:strCache>
                <c:ptCount val="10"/>
                <c:pt idx="0">
                  <c:v>Gazcue (Laboratorio Principal)</c:v>
                </c:pt>
                <c:pt idx="1">
                  <c:v>Carrefour</c:v>
                </c:pt>
                <c:pt idx="2">
                  <c:v>San Pedro de Macoris II</c:v>
                </c:pt>
                <c:pt idx="3">
                  <c:v>Ozama</c:v>
                </c:pt>
                <c:pt idx="4">
                  <c:v>Megacentro</c:v>
                </c:pt>
                <c:pt idx="5">
                  <c:v>Teléfono/WA Business</c:v>
                </c:pt>
                <c:pt idx="6">
                  <c:v>Independencia</c:v>
                </c:pt>
                <c:pt idx="7">
                  <c:v>Los Alcarrizos</c:v>
                </c:pt>
                <c:pt idx="8">
                  <c:v>Carretera Mella</c:v>
                </c:pt>
                <c:pt idx="9">
                  <c:v>Villa Mella</c:v>
                </c:pt>
              </c:strCache>
            </c:strRef>
          </c:cat>
          <c:val>
            <c:numRef>
              <c:f>Top_Facturación!$B$2:$B$11</c:f>
              <c:numCache>
                <c:formatCode>#,##0</c:formatCode>
                <c:ptCount val="10"/>
                <c:pt idx="0">
                  <c:v>5309</c:v>
                </c:pt>
                <c:pt idx="1">
                  <c:v>3965</c:v>
                </c:pt>
                <c:pt idx="2">
                  <c:v>4970</c:v>
                </c:pt>
                <c:pt idx="3">
                  <c:v>3933</c:v>
                </c:pt>
                <c:pt idx="4">
                  <c:v>4564</c:v>
                </c:pt>
                <c:pt idx="5">
                  <c:v>2939</c:v>
                </c:pt>
                <c:pt idx="6">
                  <c:v>3366</c:v>
                </c:pt>
                <c:pt idx="7">
                  <c:v>4518</c:v>
                </c:pt>
                <c:pt idx="8">
                  <c:v>4219</c:v>
                </c:pt>
                <c:pt idx="9">
                  <c:v>4112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7F-42CE-890A-1132D1818E4B}"/>
            </c:ext>
          </c:extLst>
        </c:ser>
        <c:ser>
          <c:idx val="1"/>
          <c:order val="1"/>
          <c:tx>
            <c:strRef>
              <c:f>Top_Facturación!$C$1</c:f>
              <c:strCache>
                <c:ptCount val="1"/>
                <c:pt idx="0">
                  <c:v>Facturacion Ejecutada</c:v>
                </c:pt>
              </c:strCache>
            </c:strRef>
          </c:tx>
          <c:spPr>
            <a:solidFill>
              <a:srgbClr val="002060">
                <a:alpha val="99000"/>
              </a:srgb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Top_Facturación!$A$2:$A$11</c:f>
              <c:strCache>
                <c:ptCount val="10"/>
                <c:pt idx="0">
                  <c:v>Gazcue (Laboratorio Principal)</c:v>
                </c:pt>
                <c:pt idx="1">
                  <c:v>Carrefour</c:v>
                </c:pt>
                <c:pt idx="2">
                  <c:v>San Pedro de Macoris II</c:v>
                </c:pt>
                <c:pt idx="3">
                  <c:v>Ozama</c:v>
                </c:pt>
                <c:pt idx="4">
                  <c:v>Megacentro</c:v>
                </c:pt>
                <c:pt idx="5">
                  <c:v>Teléfono/WA Business</c:v>
                </c:pt>
                <c:pt idx="6">
                  <c:v>Independencia</c:v>
                </c:pt>
                <c:pt idx="7">
                  <c:v>Los Alcarrizos</c:v>
                </c:pt>
                <c:pt idx="8">
                  <c:v>Carretera Mella</c:v>
                </c:pt>
                <c:pt idx="9">
                  <c:v>Villa Mella</c:v>
                </c:pt>
              </c:strCache>
            </c:strRef>
          </c:cat>
          <c:val>
            <c:numRef>
              <c:f>Top_Facturación!$C$2:$C$11</c:f>
              <c:numCache>
                <c:formatCode>\$#,##0.00;\(\$#,##0.00\);\$#,##0.00</c:formatCode>
                <c:ptCount val="10"/>
                <c:pt idx="0">
                  <c:v>17179409.199999996</c:v>
                </c:pt>
                <c:pt idx="1">
                  <c:v>11674511.219999997</c:v>
                </c:pt>
                <c:pt idx="2">
                  <c:v>11562258.639999997</c:v>
                </c:pt>
                <c:pt idx="3">
                  <c:v>11195172.919999998</c:v>
                </c:pt>
                <c:pt idx="4">
                  <c:v>11038057.929999998</c:v>
                </c:pt>
                <c:pt idx="5">
                  <c:v>10974073.899999999</c:v>
                </c:pt>
                <c:pt idx="6">
                  <c:v>10548837.320000004</c:v>
                </c:pt>
                <c:pt idx="7">
                  <c:v>10388125.699999996</c:v>
                </c:pt>
                <c:pt idx="8">
                  <c:v>10171970.790000001</c:v>
                </c:pt>
                <c:pt idx="9">
                  <c:v>10150216.069999998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7F-42CE-890A-1132D1818E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06707472"/>
        <c:axId val="506704592"/>
      </c:barChart>
      <c:lineChart>
        <c:grouping val="standard"/>
        <c:varyColors val="0"/>
        <c:ser>
          <c:idx val="2"/>
          <c:order val="2"/>
          <c:tx>
            <c:strRef>
              <c:f>Top_Facturación!$D$1</c:f>
              <c:strCache>
                <c:ptCount val="1"/>
                <c:pt idx="0">
                  <c:v>% Crec. Anual Fact.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Top_Facturación!$A$2:$A$11</c:f>
              <c:strCache>
                <c:ptCount val="10"/>
                <c:pt idx="0">
                  <c:v>Gazcue (Laboratorio Principal)</c:v>
                </c:pt>
                <c:pt idx="1">
                  <c:v>Carrefour</c:v>
                </c:pt>
                <c:pt idx="2">
                  <c:v>San Pedro de Macoris II</c:v>
                </c:pt>
                <c:pt idx="3">
                  <c:v>Ozama</c:v>
                </c:pt>
                <c:pt idx="4">
                  <c:v>Megacentro</c:v>
                </c:pt>
                <c:pt idx="5">
                  <c:v>Teléfono/WA Business</c:v>
                </c:pt>
                <c:pt idx="6">
                  <c:v>Independencia</c:v>
                </c:pt>
                <c:pt idx="7">
                  <c:v>Los Alcarrizos</c:v>
                </c:pt>
                <c:pt idx="8">
                  <c:v>Carretera Mella</c:v>
                </c:pt>
                <c:pt idx="9">
                  <c:v>Villa Mella</c:v>
                </c:pt>
              </c:strCache>
            </c:strRef>
          </c:cat>
          <c:val>
            <c:numRef>
              <c:f>Top_Facturación!$D$2:$D$11</c:f>
              <c:numCache>
                <c:formatCode>0.00%;\-0.00%;0.00%</c:formatCode>
                <c:ptCount val="10"/>
                <c:pt idx="0">
                  <c:v>-3.3191083705420003E-2</c:v>
                </c:pt>
                <c:pt idx="1">
                  <c:v>-1.9021093340733389E-2</c:v>
                </c:pt>
                <c:pt idx="2">
                  <c:v>1.6420256607582062E-2</c:v>
                </c:pt>
                <c:pt idx="3">
                  <c:v>2.1446341174490187E-2</c:v>
                </c:pt>
                <c:pt idx="4">
                  <c:v>-5.3502305984594961E-2</c:v>
                </c:pt>
                <c:pt idx="5">
                  <c:v>-6.0974346030157528E-2</c:v>
                </c:pt>
                <c:pt idx="6">
                  <c:v>-0.14382313758171714</c:v>
                </c:pt>
                <c:pt idx="7">
                  <c:v>-2.6230146370956789E-2</c:v>
                </c:pt>
                <c:pt idx="8">
                  <c:v>-7.7371524100223743E-2</c:v>
                </c:pt>
                <c:pt idx="9">
                  <c:v>-3.7506110289181105E-2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7F-42CE-890A-1132D1818E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5255712"/>
        <c:axId val="515253792"/>
      </c:lineChart>
      <c:catAx>
        <c:axId val="5067074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6704592"/>
        <c:crosses val="autoZero"/>
        <c:auto val="1"/>
        <c:lblAlgn val="ctr"/>
        <c:lblOffset val="100"/>
        <c:noMultiLvlLbl val="0"/>
      </c:catAx>
      <c:valAx>
        <c:axId val="506704592"/>
        <c:scaling>
          <c:orientation val="minMax"/>
          <c:min val="1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506707472"/>
        <c:crosses val="autoZero"/>
        <c:crossBetween val="between"/>
      </c:valAx>
      <c:valAx>
        <c:axId val="515253792"/>
        <c:scaling>
          <c:orientation val="minMax"/>
        </c:scaling>
        <c:delete val="0"/>
        <c:axPos val="r"/>
        <c:numFmt formatCode="0.00%;\-0.00%;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515255712"/>
        <c:crosses val="max"/>
        <c:crossBetween val="between"/>
      </c:valAx>
      <c:catAx>
        <c:axId val="5152557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52537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rnd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DLaM Display" panose="02010000000000000000" pitchFamily="2" charset="0"/>
                <a:cs typeface="Calibri" panose="020F0502020204030204" pitchFamily="34" charset="0"/>
              </a:defRPr>
            </a:pPr>
            <a:r>
              <a:rPr lang="en-US" sz="1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DLaM Display" panose="02010000000000000000" pitchFamily="2" charset="0"/>
                <a:cs typeface="Calibri" panose="020F0502020204030204" pitchFamily="34" charset="0"/>
              </a:rPr>
              <a:t>Top 10 Sucursales con mayor facturación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DLaM Display" panose="02010000000000000000" pitchFamily="2" charset="0"/>
              <a:cs typeface="Calibri" panose="020F0502020204030204" pitchFamily="34" charset="0"/>
            </a:defRPr>
          </a:pPr>
          <a:endParaRPr lang="es-DO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Top_Facturación!$C$1</c:f>
              <c:strCache>
                <c:ptCount val="1"/>
                <c:pt idx="0">
                  <c:v>Facturacion Ejecutada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0C-4D9D-8BBE-C2852F7F05E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0C-4D9D-8BBE-C2852F7F05E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80C-4D9D-8BBE-C2852F7F05E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980C-4D9D-8BBE-C2852F7F05E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980C-4D9D-8BBE-C2852F7F05E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0C-4D9D-8BBE-C2852F7F05E0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0C-4D9D-8BBE-C2852F7F05E0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980C-4D9D-8BBE-C2852F7F05E0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1-980C-4D9D-8BBE-C2852F7F05E0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3-980C-4D9D-8BBE-C2852F7F05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Top_Facturación!$A$2:$A$11</c:f>
              <c:strCache>
                <c:ptCount val="10"/>
                <c:pt idx="0">
                  <c:v>Gazcue (Laboratorio Principal)</c:v>
                </c:pt>
                <c:pt idx="1">
                  <c:v>Carrefour</c:v>
                </c:pt>
                <c:pt idx="2">
                  <c:v>San Pedro de Macoris II</c:v>
                </c:pt>
                <c:pt idx="3">
                  <c:v>Ozama</c:v>
                </c:pt>
                <c:pt idx="4">
                  <c:v>Megacentro</c:v>
                </c:pt>
                <c:pt idx="5">
                  <c:v>Teléfono/WA Business</c:v>
                </c:pt>
                <c:pt idx="6">
                  <c:v>Independencia</c:v>
                </c:pt>
                <c:pt idx="7">
                  <c:v>Los Alcarrizos</c:v>
                </c:pt>
                <c:pt idx="8">
                  <c:v>Carretera Mella</c:v>
                </c:pt>
                <c:pt idx="9">
                  <c:v>Villa Mella</c:v>
                </c:pt>
              </c:strCache>
            </c:strRef>
          </c:cat>
          <c:val>
            <c:numRef>
              <c:f>Top_Facturación!$C$2:$C$11</c:f>
              <c:numCache>
                <c:formatCode>\$#,##0.00;\(\$#,##0.00\);\$#,##0.00</c:formatCode>
                <c:ptCount val="10"/>
                <c:pt idx="0">
                  <c:v>17179409.199999996</c:v>
                </c:pt>
                <c:pt idx="1">
                  <c:v>11674511.219999997</c:v>
                </c:pt>
                <c:pt idx="2">
                  <c:v>11562258.639999997</c:v>
                </c:pt>
                <c:pt idx="3">
                  <c:v>11195172.919999998</c:v>
                </c:pt>
                <c:pt idx="4">
                  <c:v>11038057.929999998</c:v>
                </c:pt>
                <c:pt idx="5">
                  <c:v>10974073.899999999</c:v>
                </c:pt>
                <c:pt idx="6">
                  <c:v>10548837.320000004</c:v>
                </c:pt>
                <c:pt idx="7">
                  <c:v>10388125.699999996</c:v>
                </c:pt>
                <c:pt idx="8">
                  <c:v>10171970.790000001</c:v>
                </c:pt>
                <c:pt idx="9">
                  <c:v>10150216.069999998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80C-4D9D-8BBE-C2852F7F05E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576412592"/>
        <c:axId val="576413552"/>
      </c:barChart>
      <c:catAx>
        <c:axId val="576412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DO"/>
          </a:p>
        </c:txPr>
        <c:crossAx val="576413552"/>
        <c:crosses val="autoZero"/>
        <c:auto val="1"/>
        <c:lblAlgn val="ctr"/>
        <c:lblOffset val="100"/>
        <c:noMultiLvlLbl val="0"/>
      </c:catAx>
      <c:valAx>
        <c:axId val="576413552"/>
        <c:scaling>
          <c:orientation val="minMax"/>
        </c:scaling>
        <c:delete val="1"/>
        <c:axPos val="b"/>
        <c:numFmt formatCode="\$#,##0.00;\(\$#,##0.00\);\$#,##0.00" sourceLinked="1"/>
        <c:majorTickMark val="none"/>
        <c:minorTickMark val="none"/>
        <c:tickLblPos val="nextTo"/>
        <c:crossAx val="57641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s-DO" sz="1800" b="1" i="0" u="none" strike="noStrik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Top 5 Sucursales por Facturación Ejecutada</a:t>
            </a:r>
            <a:endParaRPr 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DO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1"/>
        <c:ser>
          <c:idx val="0"/>
          <c:order val="0"/>
          <c:tx>
            <c:strRef>
              <c:f>Top_Facturación!$C$1</c:f>
              <c:strCache>
                <c:ptCount val="1"/>
                <c:pt idx="0">
                  <c:v>Facturacion Ejecutada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D064-45C6-B077-214028AFD4E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D064-45C6-B077-214028AFD4E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D064-45C6-B077-214028AFD4E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D064-45C6-B077-214028AFD4E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D064-45C6-B077-214028AFD4E0}"/>
              </c:ext>
            </c:extLst>
          </c:dPt>
          <c:cat>
            <c:strRef>
              <c:f>Top_Facturación!$A$2:$A$6</c:f>
              <c:strCache>
                <c:ptCount val="5"/>
                <c:pt idx="0">
                  <c:v>Gazcue (Laboratorio Principal)</c:v>
                </c:pt>
                <c:pt idx="1">
                  <c:v>Carrefour</c:v>
                </c:pt>
                <c:pt idx="2">
                  <c:v>San Pedro de Macoris II</c:v>
                </c:pt>
                <c:pt idx="3">
                  <c:v>Ozama</c:v>
                </c:pt>
                <c:pt idx="4">
                  <c:v>Megacentro</c:v>
                </c:pt>
              </c:strCache>
            </c:strRef>
          </c:cat>
          <c:val>
            <c:numRef>
              <c:f>Top_Facturación!$C$2:$C$6</c:f>
              <c:numCache>
                <c:formatCode>\$#,##0.00;\(\$#,##0.00\);\$#,##0.00</c:formatCode>
                <c:ptCount val="5"/>
                <c:pt idx="0">
                  <c:v>17179409.199999996</c:v>
                </c:pt>
                <c:pt idx="1">
                  <c:v>11674511.219999997</c:v>
                </c:pt>
                <c:pt idx="2">
                  <c:v>11562258.639999997</c:v>
                </c:pt>
                <c:pt idx="3">
                  <c:v>11195172.919999998</c:v>
                </c:pt>
                <c:pt idx="4">
                  <c:v>11038057.929999998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64-45C6-B077-214028AFD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3391152"/>
        <c:axId val="203394032"/>
        <c:axId val="0"/>
      </c:bar3DChart>
      <c:catAx>
        <c:axId val="2033911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203394032"/>
        <c:crosses val="autoZero"/>
        <c:auto val="1"/>
        <c:lblAlgn val="ctr"/>
        <c:lblOffset val="100"/>
        <c:noMultiLvlLbl val="0"/>
      </c:catAx>
      <c:valAx>
        <c:axId val="203394032"/>
        <c:scaling>
          <c:orientation val="minMax"/>
        </c:scaling>
        <c:delete val="0"/>
        <c:axPos val="b"/>
        <c:numFmt formatCode="\$#,##0.00;\(\$#,##0.00\);\$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203391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6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297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0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1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37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7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8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6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0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51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25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BCD55D08-8B3B-84A1-4066-B428021724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400" r="9091" b="5783"/>
          <a:stretch>
            <a:fillRect/>
          </a:stretch>
        </p:blipFill>
        <p:spPr>
          <a:xfrm>
            <a:off x="0" y="0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83750D-DCCD-0E03-569D-476F55A4F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750" y="893615"/>
            <a:ext cx="7367963" cy="2954756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s-MX" sz="5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40A04050005020304" pitchFamily="18" charset="0"/>
              </a:rPr>
              <a:t>📊Reporte de Desempeño Operativo y Comercial Marzo, Abril, Mayo 2025</a:t>
            </a:r>
            <a:endParaRPr lang="es-DO" sz="56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sis MT Pro Black" panose="02040A040500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9A83A0-CA4E-AF7F-F58C-1F30E24BE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079" y="5053882"/>
            <a:ext cx="5728064" cy="1104721"/>
          </a:xfrm>
        </p:spPr>
        <p:txBody>
          <a:bodyPr anchor="t">
            <a:normAutofit/>
          </a:bodyPr>
          <a:lstStyle/>
          <a:p>
            <a:pPr algn="ctr"/>
            <a:r>
              <a:rPr lang="es-MX" sz="2400" b="1" i="0" dirty="0">
                <a:solidFill>
                  <a:srgbClr val="E6E6E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🏢Centro de Contacto + Sucursales + Facturación</a:t>
            </a:r>
            <a:endParaRPr lang="es-DO" sz="2400" b="1" i="0" dirty="0">
              <a:solidFill>
                <a:srgbClr val="E6E6E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208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C40A7-DD34-EEDE-2AFD-5A0B6CA9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854" y="49939"/>
            <a:ext cx="9469088" cy="1676401"/>
          </a:xfrm>
        </p:spPr>
        <p:txBody>
          <a:bodyPr>
            <a:normAutofit fontScale="90000"/>
          </a:bodyPr>
          <a:lstStyle/>
          <a:p>
            <a:pPr algn="ctr"/>
            <a:r>
              <a:rPr lang="es-MX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Objetivo del Reporte y Fuentes de Información</a:t>
            </a:r>
            <a:endParaRPr lang="es-DO" sz="5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430F21-2EFE-C36A-4E8E-FD3C376C19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534" y="1782498"/>
            <a:ext cx="1044627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el desempeño de los canales de atención (App, Web y </a:t>
            </a:r>
            <a:r>
              <a:rPr kumimoji="0" lang="es-DO" altLang="es-D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Center), la productividad de las sucursales y los resultados de facturación mensual, con el fin de identificar tendencias, fortalezas y áreas de mejora para la toma de decisiones operativas y estratégicas.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Fuentes de datos:</a:t>
            </a:r>
            <a:endParaRPr kumimoji="0" lang="es-DO" altLang="es-D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 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App: 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Solicitudes aprobadas/declinadas, TE, Meta, Total general.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💻 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Web: 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 de espera, tiempo de sesión, chats BOT/recibidos.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📞 </a:t>
            </a:r>
            <a:r>
              <a:rPr kumimoji="0" lang="es-DO" altLang="es-D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Center: 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Abandono, Meta, Nivel de servicio, llamadas.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🏢 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Sucursales: 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AT, TE, TR, #EM, #CA.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💵</a:t>
            </a:r>
            <a:r>
              <a:rPr kumimoji="0" lang="es-DO" altLang="es-D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Facturación:</a:t>
            </a:r>
            <a:r>
              <a:rPr kumimoji="0" lang="es-DO" altLang="es-D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Número Facturas, Requisiciones TM, Facturación ejecutada, Crecimiento anual, Pacientes.</a:t>
            </a:r>
            <a:endParaRPr kumimoji="0" lang="es-DO" altLang="es-D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99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A8A08-5DB5-0965-8B37-85F9098F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35" y="180317"/>
            <a:ext cx="10854176" cy="795353"/>
          </a:xfrm>
        </p:spPr>
        <p:txBody>
          <a:bodyPr>
            <a:noAutofit/>
          </a:bodyPr>
          <a:lstStyle/>
          <a:p>
            <a:pPr algn="ctr"/>
            <a:r>
              <a:rPr lang="es-MX" sz="3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Resultados Centro de Contacto (App, Web y </a:t>
            </a:r>
            <a:r>
              <a:rPr lang="es-MX" sz="360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es-MX" sz="3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Center)</a:t>
            </a:r>
            <a:endParaRPr lang="es-DO" sz="36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149BA15-B0C2-F535-25CD-1E49C0A67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713863"/>
              </p:ext>
            </p:extLst>
          </p:nvPr>
        </p:nvGraphicFramePr>
        <p:xfrm>
          <a:off x="6053308" y="3860217"/>
          <a:ext cx="5779303" cy="27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512033C-DE03-D352-0A86-F235E1A2B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1341546"/>
              </p:ext>
            </p:extLst>
          </p:nvPr>
        </p:nvGraphicFramePr>
        <p:xfrm>
          <a:off x="255826" y="953864"/>
          <a:ext cx="5779303" cy="292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71A95B26-5C35-A8BC-4A6F-811F4A9C27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5602107"/>
              </p:ext>
            </p:extLst>
          </p:nvPr>
        </p:nvGraphicFramePr>
        <p:xfrm>
          <a:off x="214882" y="3860216"/>
          <a:ext cx="5661001" cy="2947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3EB5FA5A-642F-82F0-3DAF-099BEB7AC2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441911"/>
              </p:ext>
            </p:extLst>
          </p:nvPr>
        </p:nvGraphicFramePr>
        <p:xfrm>
          <a:off x="6035130" y="844922"/>
          <a:ext cx="5721872" cy="2839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8849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22CC5D3-BACB-99F6-7E2B-6D03A409B0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072392"/>
              </p:ext>
            </p:extLst>
          </p:nvPr>
        </p:nvGraphicFramePr>
        <p:xfrm>
          <a:off x="352924" y="46082"/>
          <a:ext cx="5035506" cy="3164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E2E238EA-A196-EE84-1488-3CB66D75ED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522275"/>
              </p:ext>
            </p:extLst>
          </p:nvPr>
        </p:nvGraphicFramePr>
        <p:xfrm>
          <a:off x="6396676" y="51637"/>
          <a:ext cx="5327238" cy="3164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E85AB27A-D60D-77CE-689C-87982E2E0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7303360"/>
              </p:ext>
            </p:extLst>
          </p:nvPr>
        </p:nvGraphicFramePr>
        <p:xfrm>
          <a:off x="1992087" y="3248773"/>
          <a:ext cx="6449784" cy="354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5524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F57AE-F82F-B036-9416-9F4144C9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36" y="197179"/>
            <a:ext cx="10890929" cy="893927"/>
          </a:xfrm>
        </p:spPr>
        <p:txBody>
          <a:bodyPr>
            <a:normAutofit/>
          </a:bodyPr>
          <a:lstStyle/>
          <a:p>
            <a:pPr algn="ctr"/>
            <a:r>
              <a:rPr lang="es-MX" sz="4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📍 Hallazgos Clave del Centro de Contacto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903504-C8E7-532E-E7E4-FC4627A32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1821"/>
            <a:ext cx="10890928" cy="576617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presenta tiempos de espera por encima de la meta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 que indica una posible saturación del canal.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s-MX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Recomendación: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Evaluar capacidad operativa o automatizar etapas del proceso de aprobación.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volumen de solicitudes aprobadas supera significativamente a las declinadas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 que evidencia una alta efectividad del flujo de aprobación.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s-MX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Recomendación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Mantener este estándar y replicar buenas prácticas en otros canales.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Web, el tiempo de espera se mantiene relativamente bajo, lo que indica una experiencia de usuario más ágil que en App.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s-MX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Recomendación: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Analizar qué factores del canal Web están reduciendo tiempos para aplicarlos en App.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BOT gestionó un mayor volumen de chats que el personal humano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demostrando eficiencia en la automatización del canal digital.</a:t>
            </a:r>
          </a:p>
          <a:p>
            <a:pPr marL="0" indent="0" algn="just">
              <a:buNone/>
            </a:pPr>
            <a:r>
              <a:rPr lang="es-MX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s-MX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Recomendación: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Optimizar el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más flujos de resolución para reducir la intervención manual.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☎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Center supera la meta de abandono, lo que revela frustración y pérdida de oportunidades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aunque el nivel de servicio logra cumplir la meta.</a:t>
            </a:r>
          </a:p>
          <a:p>
            <a:pPr marL="0" indent="0" algn="just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➤ </a:t>
            </a:r>
            <a:r>
              <a:rPr lang="es-MX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Recomendación: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Reforzar tiempos de respuesta y ajustar dotación para disminuir el abandono sin comprometer el nivel de servicio.</a:t>
            </a:r>
          </a:p>
          <a:p>
            <a:pPr marL="0" indent="0">
              <a:buNone/>
            </a:pP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96012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675B3-62B6-E77A-AEDB-A2708B36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40" y="54845"/>
            <a:ext cx="10890929" cy="843514"/>
          </a:xfrm>
        </p:spPr>
        <p:txBody>
          <a:bodyPr>
            <a:normAutofit/>
          </a:bodyPr>
          <a:lstStyle/>
          <a:p>
            <a:pPr algn="ctr"/>
            <a:r>
              <a:rPr lang="es-DO" sz="4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Resultados Destacados – Sucursales (Top 10)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064AA340-7D60-BD56-9C6D-AF85E49D80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8151599"/>
              </p:ext>
            </p:extLst>
          </p:nvPr>
        </p:nvGraphicFramePr>
        <p:xfrm>
          <a:off x="206782" y="874502"/>
          <a:ext cx="5857134" cy="2718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593FD55-0DF4-42B9-DC45-6F2AFD361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1561705"/>
              </p:ext>
            </p:extLst>
          </p:nvPr>
        </p:nvGraphicFramePr>
        <p:xfrm>
          <a:off x="6256422" y="858460"/>
          <a:ext cx="5621287" cy="2718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5D93880-630E-4E55-6B3D-D315B6A64E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0365107"/>
              </p:ext>
            </p:extLst>
          </p:nvPr>
        </p:nvGraphicFramePr>
        <p:xfrm>
          <a:off x="3112169" y="3729995"/>
          <a:ext cx="5621287" cy="2928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7820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361C016-FD7C-A71A-9537-05B5673C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87" y="176464"/>
            <a:ext cx="10890929" cy="850231"/>
          </a:xfrm>
        </p:spPr>
        <p:txBody>
          <a:bodyPr/>
          <a:lstStyle/>
          <a:p>
            <a:pPr algn="ctr"/>
            <a:r>
              <a:rPr lang="es-DO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Hallazgos Top 10 Sucursales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07F5D73-4719-92A6-D0AF-F92439D55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110" y="1059927"/>
            <a:ext cx="10448310" cy="562161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DO" dirty="0">
                <a:latin typeface="Calibri" panose="020F0502020204030204" pitchFamily="34" charset="0"/>
                <a:cs typeface="Calibri" panose="020F0502020204030204" pitchFamily="34" charset="0"/>
              </a:rPr>
              <a:t>🥇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 Sucursal [Mejor AT] lidera en atenciones con el menor tiempo de espera promedio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evidenciando un flujo operativo eficiente y atención rápida al cliente.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➤ </a:t>
            </a:r>
            <a:r>
              <a:rPr lang="es-DO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Recomendación: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Documentar y replicar buenas prácticas en otras sucursales.</a:t>
            </a:r>
            <a:endParaRPr lang="es-DO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⚠ 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 Sucursal [Peor TE] muestra un tiempo de espera significativamente mayor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afectando la experiencia del cliente y aumentando la carga operativa.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➤ </a:t>
            </a:r>
            <a:r>
              <a:rPr lang="es-DO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Recomendación: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Analizar procesos internos y ajustar recursos para mejorar la eficiencia.</a:t>
            </a:r>
            <a:endParaRPr lang="es-DO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📊 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Las sucursales con mayor AT no siempre tienen el menor TE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mostrando un balance entre volumen de atención y rapidez que requiere optimización.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➤ </a:t>
            </a:r>
            <a:r>
              <a:rPr lang="es-DO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Recomendación: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Ajustar asignación de personal y automatización de procesos para equilibrar carga y tiempos.</a:t>
            </a:r>
            <a:endParaRPr lang="es-DO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🔝 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Top 10 sucursales concentran la mayoría de las atenciones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mientras que las de menor rendimiento muestran oportunidades de mejora en eficiencia y experiencia.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➤ </a:t>
            </a:r>
            <a:r>
              <a:rPr lang="es-DO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Recomendación:</a:t>
            </a:r>
            <a:r>
              <a:rPr lang="es-DO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s-DO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Implementar planes de mejora y seguimiento por sucursal para elevar estándares operativos.</a:t>
            </a:r>
            <a:endParaRPr lang="es-DO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50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3D4DC19-24F0-8701-ECFC-860840765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7611706"/>
              </p:ext>
            </p:extLst>
          </p:nvPr>
        </p:nvGraphicFramePr>
        <p:xfrm>
          <a:off x="431337" y="1098365"/>
          <a:ext cx="4734818" cy="3062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BC9F061C-FA5D-CDC9-F1FC-C5F454F6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6" y="175044"/>
            <a:ext cx="10890929" cy="853658"/>
          </a:xfrm>
        </p:spPr>
        <p:txBody>
          <a:bodyPr>
            <a:normAutofit/>
          </a:bodyPr>
          <a:lstStyle/>
          <a:p>
            <a:pPr algn="ctr"/>
            <a:r>
              <a:rPr lang="es-DO" sz="4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Resultados Top Facturación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24D7CBE-4217-1F8C-E45C-01130E511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7713860"/>
              </p:ext>
            </p:extLst>
          </p:nvPr>
        </p:nvGraphicFramePr>
        <p:xfrm>
          <a:off x="6034081" y="1098365"/>
          <a:ext cx="5371907" cy="3062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52E0D52A-3F2E-82BA-D791-BE7F8EFAEC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666777"/>
              </p:ext>
            </p:extLst>
          </p:nvPr>
        </p:nvGraphicFramePr>
        <p:xfrm>
          <a:off x="2210940" y="4162568"/>
          <a:ext cx="6587513" cy="2599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1665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0BC77-E499-7FC0-4BFD-E8F425E6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84" y="193939"/>
            <a:ext cx="10890929" cy="850232"/>
          </a:xfrm>
        </p:spPr>
        <p:txBody>
          <a:bodyPr/>
          <a:lstStyle/>
          <a:p>
            <a:pPr algn="ctr"/>
            <a:r>
              <a:rPr lang="es-DO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Hallazgos Facturación-Comparativo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CF9675-B039-0068-1A0C-0323878A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7" y="1093158"/>
            <a:ext cx="10744199" cy="56198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DO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💰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dirty="0">
                <a:latin typeface="Calibri" panose="020F0502020204030204" pitchFamily="34" charset="0"/>
                <a:ea typeface="Times New Roman" panose="02020603050405020304" pitchFamily="18" charset="0"/>
              </a:rPr>
              <a:t>La Sucursal [Top Facturación] lidera en facturación ejecutada y volumen de facturas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, mostrando alta eficiencia operativa y fuerte desempeño comercial.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DO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➤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i="1" dirty="0">
                <a:latin typeface="Calibri" panose="020F0502020204030204" pitchFamily="34" charset="0"/>
                <a:ea typeface="Times New Roman" panose="02020603050405020304" pitchFamily="18" charset="0"/>
              </a:rPr>
              <a:t>Recomendación: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Mantener estrategias y procesos que impulsan este rendimiento.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DO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⚠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dirty="0">
                <a:latin typeface="Calibri" panose="020F0502020204030204" pitchFamily="34" charset="0"/>
                <a:ea typeface="Times New Roman" panose="02020603050405020304" pitchFamily="18" charset="0"/>
              </a:rPr>
              <a:t>Sucursales con menor facturación presentan un crecimiento anual inferior al promedio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, lo que refleja oportunidades de optimización en procesos y captación de clientes.</a:t>
            </a:r>
          </a:p>
          <a:p>
            <a:pPr marL="0" indent="0" algn="just">
              <a:buNone/>
            </a:pPr>
            <a:r>
              <a:rPr lang="es-DO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➤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i="1" dirty="0">
                <a:latin typeface="Calibri" panose="020F0502020204030204" pitchFamily="34" charset="0"/>
                <a:ea typeface="Times New Roman" panose="02020603050405020304" pitchFamily="18" charset="0"/>
              </a:rPr>
              <a:t>Recomendación: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Analizar causas de bajo rendimiento y diseñar planes de mejora específicos.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DO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📈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dirty="0">
                <a:latin typeface="Calibri" panose="020F0502020204030204" pitchFamily="34" charset="0"/>
                <a:ea typeface="Times New Roman" panose="02020603050405020304" pitchFamily="18" charset="0"/>
              </a:rPr>
              <a:t>Existe correlación parcial entre número de facturas y facturación ejecutada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, indicando que no siempre el mayor volumen se traduce en mayores ingresos.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DO" b="1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➤</a:t>
            </a:r>
            <a:r>
              <a:rPr lang="es-DO" b="1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i="1" dirty="0">
                <a:latin typeface="Calibri" panose="020F0502020204030204" pitchFamily="34" charset="0"/>
                <a:ea typeface="Times New Roman" panose="02020603050405020304" pitchFamily="18" charset="0"/>
              </a:rPr>
              <a:t>Recomendación: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Revisar ticket promedio y eficiencia de cada sucursal para maximizar rentabilidad.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DO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🔝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dirty="0">
                <a:latin typeface="Calibri" panose="020F0502020204030204" pitchFamily="34" charset="0"/>
                <a:ea typeface="Times New Roman" panose="02020603050405020304" pitchFamily="18" charset="0"/>
              </a:rPr>
              <a:t>Top 3 sucursales concentran un porcentaje significativo de la facturación total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, reforzando la importancia de replicar buenas prácticas en sucursales de menor rendimiento.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DO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➤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DO" b="1" i="1" dirty="0">
                <a:latin typeface="Calibri" panose="020F0502020204030204" pitchFamily="34" charset="0"/>
                <a:ea typeface="Times New Roman" panose="02020603050405020304" pitchFamily="18" charset="0"/>
              </a:rPr>
              <a:t>Recomendación: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 Implementar programas de entrenamiento y seguimiento de </a:t>
            </a:r>
            <a:r>
              <a:rPr lang="es-DO" dirty="0" err="1">
                <a:latin typeface="Calibri" panose="020F0502020204030204" pitchFamily="34" charset="0"/>
                <a:ea typeface="Times New Roman" panose="02020603050405020304" pitchFamily="18" charset="0"/>
              </a:rPr>
              <a:t>KPIs</a:t>
            </a:r>
            <a:r>
              <a:rPr lang="es-DO" dirty="0"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s-D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72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391E2-7443-67EE-3427-CCEE7AFD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69" y="272361"/>
            <a:ext cx="8593703" cy="837330"/>
          </a:xfrm>
        </p:spPr>
        <p:txBody>
          <a:bodyPr>
            <a:normAutofit/>
          </a:bodyPr>
          <a:lstStyle/>
          <a:p>
            <a:pPr algn="ctr"/>
            <a:r>
              <a:rPr lang="es-DO" sz="4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Conclusiones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BE157-C1BD-5036-568F-E148F2857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09691"/>
            <a:ext cx="10890928" cy="54759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D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Visión general:</a:t>
            </a:r>
            <a:endParaRPr lang="es-DO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DO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Conclusión: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Los canales digitales (App/Web) manejan la mayor parte del tráfico; la App muestra saturación (TE por encima de meta) y Web es más eficiente. El </a:t>
            </a:r>
            <a:r>
              <a:rPr lang="es-DO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Call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Center tiene abandono por encima de meta, aunque cumple nivel de servicio.</a:t>
            </a:r>
          </a:p>
          <a:p>
            <a:pPr marL="34290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DO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Implicación: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DO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Rebalancear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carga entre canales y priorizar mejoras en App para mejorar la experiencia y reducir abandonos.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D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Eficiencia operativa en sucursales:</a:t>
            </a:r>
            <a:endParaRPr lang="es-DO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DO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Conclusión: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El Top10 concentra la mayor parte de las atenciones; sin embargo, no siempre las más activas son las más eficientes en TE.</a:t>
            </a:r>
          </a:p>
          <a:p>
            <a:pPr marL="34290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DO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Implicación: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Replicar prácticas de sucursales eficientes y reasignar recursos en horarios pico.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D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Rentabilidad y crecimiento:</a:t>
            </a:r>
            <a:endParaRPr lang="es-DO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DO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Conclusión: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Top 5 sucursales generan el mayor ingreso; existen sucursales con potencial de crecimiento no explotado.</a:t>
            </a:r>
          </a:p>
          <a:p>
            <a:pPr marL="34290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DO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Implicación:</a:t>
            </a:r>
            <a:r>
              <a:rPr lang="es-D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Planes de acción comerciales y operativos segmentados.</a:t>
            </a:r>
          </a:p>
        </p:txBody>
      </p:sp>
    </p:spTree>
    <p:extLst>
      <p:ext uri="{BB962C8B-B14F-4D97-AF65-F5344CB8AC3E}">
        <p14:creationId xmlns:p14="http://schemas.microsoft.com/office/powerpoint/2010/main" val="96315438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6EF20D017628408D58BECC63EB1CB8" ma:contentTypeVersion="10" ma:contentTypeDescription="Crear nuevo documento." ma:contentTypeScope="" ma:versionID="37d0da551c3fc5b2a3e0372ed0e5ca07">
  <xsd:schema xmlns:xsd="http://www.w3.org/2001/XMLSchema" xmlns:xs="http://www.w3.org/2001/XMLSchema" xmlns:p="http://schemas.microsoft.com/office/2006/metadata/properties" xmlns:ns3="de48d912-c757-4901-8248-f2215c9f1c8a" targetNamespace="http://schemas.microsoft.com/office/2006/metadata/properties" ma:root="true" ma:fieldsID="5c559fa1700825d39e416e0147c3a992" ns3:_="">
    <xsd:import namespace="de48d912-c757-4901-8248-f2215c9f1c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8d912-c757-4901-8248-f2215c9f1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951FA2-AC7A-4973-A522-78239FEBB6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48d912-c757-4901-8248-f2215c9f1c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05857C-C227-4FAB-91AC-18FCE9E6E0C2}">
  <ds:schemaRefs>
    <ds:schemaRef ds:uri="http://schemas.microsoft.com/office/2006/metadata/properties"/>
    <ds:schemaRef ds:uri="http://www.w3.org/XML/1998/namespace"/>
    <ds:schemaRef ds:uri="de48d912-c757-4901-8248-f2215c9f1c8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D4F3C81-1690-482C-A5DB-45AA241A923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968</Words>
  <Application>Microsoft Office PowerPoint</Application>
  <PresentationFormat>Panorámica</PresentationFormat>
  <Paragraphs>64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ADLaM Display</vt:lpstr>
      <vt:lpstr>Amasis MT Pro Black</vt:lpstr>
      <vt:lpstr>Arial</vt:lpstr>
      <vt:lpstr>Calibri</vt:lpstr>
      <vt:lpstr>Grandview Display</vt:lpstr>
      <vt:lpstr>Segoe UI Emoji</vt:lpstr>
      <vt:lpstr>Segoe UI Symbol</vt:lpstr>
      <vt:lpstr>Symbol</vt:lpstr>
      <vt:lpstr>Times New Roman</vt:lpstr>
      <vt:lpstr>DashVTI</vt:lpstr>
      <vt:lpstr>📊Reporte de Desempeño Operativo y Comercial Marzo, Abril, Mayo 2025</vt:lpstr>
      <vt:lpstr>Objetivo del Reporte y Fuentes de Información</vt:lpstr>
      <vt:lpstr>Resultados Centro de Contacto (App, Web y Call Center)</vt:lpstr>
      <vt:lpstr>Presentación de PowerPoint</vt:lpstr>
      <vt:lpstr>📍 Hallazgos Clave del Centro de Contacto</vt:lpstr>
      <vt:lpstr>Resultados Destacados – Sucursales (Top 10)</vt:lpstr>
      <vt:lpstr>Hallazgos Top 10 Sucursales</vt:lpstr>
      <vt:lpstr>Resultados Top Facturación</vt:lpstr>
      <vt:lpstr>Hallazgos Facturación-Comparativo Principal</vt:lpstr>
      <vt:lpstr>Conclusiones y 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📊Reporte de Desempeño Operativo y Comercial Marzo, Abril, Mayo 2025</dc:title>
  <dc:creator>Richard Antonio Martinez Alvarez</dc:creator>
  <cp:lastModifiedBy>Richard Antonio Martinez Alvarez</cp:lastModifiedBy>
  <cp:revision>2</cp:revision>
  <dcterms:created xsi:type="dcterms:W3CDTF">2025-10-21T19:26:49Z</dcterms:created>
  <dcterms:modified xsi:type="dcterms:W3CDTF">2025-10-22T05:15:59Z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0x010100F56EF20D017628408D58BECC63EB1CB8</vt:lpwstr>
  </property>
</Properties>
</file>